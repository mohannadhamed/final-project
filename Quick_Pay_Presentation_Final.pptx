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7"/>
  </p:notesMasterIdLst>
  <p:sldIdLst>
    <p:sldId id="306" r:id="rId5"/>
    <p:sldId id="307" r:id="rId6"/>
    <p:sldId id="256" r:id="rId7"/>
    <p:sldId id="257" r:id="rId8"/>
    <p:sldId id="301" r:id="rId9"/>
    <p:sldId id="258" r:id="rId10"/>
    <p:sldId id="259" r:id="rId11"/>
    <p:sldId id="299" r:id="rId12"/>
    <p:sldId id="274" r:id="rId13"/>
    <p:sldId id="300" r:id="rId14"/>
    <p:sldId id="275" r:id="rId15"/>
    <p:sldId id="276" r:id="rId16"/>
    <p:sldId id="277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78" r:id="rId27"/>
    <p:sldId id="269" r:id="rId28"/>
    <p:sldId id="270" r:id="rId29"/>
    <p:sldId id="279" r:id="rId30"/>
    <p:sldId id="271" r:id="rId31"/>
    <p:sldId id="272" r:id="rId32"/>
    <p:sldId id="280" r:id="rId33"/>
    <p:sldId id="281" r:id="rId34"/>
    <p:sldId id="282" r:id="rId35"/>
    <p:sldId id="283" r:id="rId36"/>
    <p:sldId id="284" r:id="rId37"/>
    <p:sldId id="302" r:id="rId38"/>
    <p:sldId id="285" r:id="rId39"/>
    <p:sldId id="286" r:id="rId40"/>
    <p:sldId id="287" r:id="rId41"/>
    <p:sldId id="298" r:id="rId42"/>
    <p:sldId id="304" r:id="rId43"/>
    <p:sldId id="288" r:id="rId44"/>
    <p:sldId id="289" r:id="rId45"/>
    <p:sldId id="290" r:id="rId46"/>
    <p:sldId id="291" r:id="rId47"/>
    <p:sldId id="292" r:id="rId48"/>
    <p:sldId id="293" r:id="rId49"/>
    <p:sldId id="303" r:id="rId50"/>
    <p:sldId id="294" r:id="rId51"/>
    <p:sldId id="295" r:id="rId52"/>
    <p:sldId id="296" r:id="rId53"/>
    <p:sldId id="297" r:id="rId54"/>
    <p:sldId id="305" r:id="rId55"/>
    <p:sldId id="273" r:id="rId5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343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bg>
      <p:bgPr>
        <a:solidFill>
          <a:srgbClr val="0F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0EEFF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Terror  |  Quick Pay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welcome_video">
            <a:hlinkClick r:id="" action="ppaction://media"/>
            <a:extLst>
              <a:ext uri="{FF2B5EF4-FFF2-40B4-BE49-F238E27FC236}">
                <a16:creationId xmlns:a16="http://schemas.microsoft.com/office/drawing/2014/main" id="{6873DE5F-962A-2CEB-D676-FED44435D1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21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4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3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_no_capcut">
            <a:hlinkClick r:id="" action="ppaction://media"/>
            <a:extLst>
              <a:ext uri="{FF2B5EF4-FFF2-40B4-BE49-F238E27FC236}">
                <a16:creationId xmlns:a16="http://schemas.microsoft.com/office/drawing/2014/main" id="{75A1EF0E-AE32-BE09-EC04-C5B47433D8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8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51" y="64008"/>
            <a:ext cx="9144000" cy="5143500"/>
          </a:xfrm>
          <a:prstGeom prst="rect">
            <a:avLst/>
          </a:prstGeom>
        </p:spPr>
      </p:pic>
      <p:pic>
        <p:nvPicPr>
          <p:cNvPr id="3" name="Image 1" descr="Code window with an err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594360"/>
            <a:ext cx="4937760" cy="395020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5486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640080" y="548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CONSOLE PROJECT</a:t>
            </a:r>
            <a:endParaRPr lang="en-US" sz="1100" dirty="0"/>
          </a:p>
        </p:txBody>
      </p:sp>
      <p:sp>
        <p:nvSpPr>
          <p:cNvPr id="6" name="Project name"/>
          <p:cNvSpPr txBox="1"/>
          <p:nvPr/>
        </p:nvSpPr>
        <p:spPr>
          <a:xfrm>
            <a:off x="640080" y="9601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0EEFF"/>
                </a:solidFill>
              </a:rPr>
              <a:t>Quick </a:t>
            </a:r>
            <a:r>
              <a:rPr lang="en-US" sz="5400" b="1" dirty="0">
                <a:solidFill>
                  <a:srgbClr val="60A5FA"/>
                </a:solidFill>
              </a:rPr>
              <a:t>Pay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2D3EE"/>
                </a:solidFill>
              </a:rPr>
              <a:t>Admin Panel for a Wallet App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59BD6"/>
                </a:solidFill>
              </a:rPr>
              <a:t>TEAM</a:t>
            </a:r>
            <a:endParaRPr lang="en-US" sz="1400" dirty="0"/>
          </a:p>
        </p:txBody>
      </p:sp>
      <p:sp>
        <p:nvSpPr>
          <p:cNvPr id="9" name="Team name"/>
          <p:cNvSpPr txBox="1"/>
          <p:nvPr/>
        </p:nvSpPr>
        <p:spPr>
          <a:xfrm>
            <a:off x="64008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A855F7"/>
                </a:solidFill>
              </a:rPr>
              <a:t>RunTime Terror</a:t>
            </a:r>
            <a:endParaRPr lang="en-US" sz="3600" dirty="0"/>
          </a:p>
        </p:txBody>
      </p:sp>
      <p:sp>
        <p:nvSpPr>
          <p:cNvPr id="10" name="Funny line"/>
          <p:cNvSpPr/>
          <p:nvPr/>
        </p:nvSpPr>
        <p:spPr>
          <a:xfrm>
            <a:off x="555949" y="3515868"/>
            <a:ext cx="3490271" cy="731520"/>
          </a:xfrm>
          <a:prstGeom prst="roundRect">
            <a:avLst>
              <a:gd name="adj" fmla="val 10000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35158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BBF24"/>
                </a:solidFill>
              </a:rPr>
              <a:t>Disclaimer: it works on my machine!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4347972"/>
            <a:ext cx="3657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59BD6"/>
                </a:solidFill>
              </a:rPr>
              <a:t>Presented by: Team </a:t>
            </a:r>
            <a:r>
              <a:rPr lang="en-US" sz="1100" dirty="0" err="1">
                <a:solidFill>
                  <a:srgbClr val="A59BD6"/>
                </a:solidFill>
              </a:rPr>
              <a:t>RunTime</a:t>
            </a:r>
            <a:r>
              <a:rPr lang="en-US" sz="1100" dirty="0">
                <a:solidFill>
                  <a:srgbClr val="A59BD6"/>
                </a:solidFill>
              </a:rPr>
              <a:t> Terror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A59BD6"/>
                </a:solidFill>
              </a:rPr>
              <a:t>Mohannad Hamed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A59BD6"/>
                </a:solidFill>
              </a:rPr>
              <a:t>Hla Hamdy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A59BD6"/>
                </a:solidFill>
              </a:rPr>
              <a:t>Mohamed Ibrahim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A59BD6"/>
                </a:solidFill>
              </a:rPr>
              <a:t>Malak Ahmed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What is Quick Pay?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QuickPay.idea(Slide2.java:2)</a:t>
            </a:r>
            <a:endParaRPr lang="en-US" sz="1000" dirty="0"/>
          </a:p>
        </p:txBody>
      </p:sp>
      <p:sp>
        <p:nvSpPr>
          <p:cNvPr id="4" name="Wallet card"/>
          <p:cNvSpPr/>
          <p:nvPr/>
        </p:nvSpPr>
        <p:spPr>
          <a:xfrm>
            <a:off x="457200" y="137160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ahmed012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15960.6 EGP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Status: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0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371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55F7"/>
                </a:solidFill>
              </a:rPr>
              <a:t>The idea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A small wallet app. Each user has money (a balance) in Egyptian pounds.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377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55F7"/>
                </a:solidFill>
              </a:rPr>
              <a:t>Our part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Two roles. The user has a wallet with a balance. The admin manages the accounts of all users.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3832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855F7"/>
                </a:solidFill>
              </a:rPr>
              <a:t>The goal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Log in or sign up, check the balance, send money, save favourites. The admin can search, update, block and unblock users.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What does Quick Pay do?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QuickPay.goal(Slide2.java:2)</a:t>
            </a:r>
            <a:endParaRPr lang="en-US" sz="1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Admin: users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80"/>
            <a:ext cx="347472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0EEFF"/>
                </a:solidFill>
              </a:rPr>
              <a:t>Search a user by ID, name, email or phone. View all users or one user. Change a name, email or phone.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SearchUser(), viewAllUsers()</a:t>
            </a:r>
            <a:endParaRPr lang="en-US" sz="1100" dirty="0"/>
          </a:p>
        </p:txBody>
      </p:sp>
      <p:sp>
        <p:nvSpPr>
          <p:cNvPr id="8" name="Card 2"/>
          <p:cNvSpPr/>
          <p:nvPr/>
        </p:nvSpPr>
        <p:spPr>
          <a:xfrm>
            <a:off x="4754880" y="13258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Admin: control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828880"/>
            <a:ext cx="347472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0EEFF"/>
                </a:solidFill>
              </a:rPr>
              <a:t>Show statistics: users, active, blocked, transactions and total transfers. See all transactions. Block or unblock an account.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showstatistics(), BlockAccount()</a:t>
            </a:r>
            <a:endParaRPr lang="en-US" sz="1100" dirty="0"/>
          </a:p>
        </p:txBody>
      </p:sp>
      <p:sp>
        <p:nvSpPr>
          <p:cNvPr id="12" name="Card 3"/>
          <p:cNvSpPr/>
          <p:nvPr/>
        </p:nvSpPr>
        <p:spPr>
          <a:xfrm>
            <a:off x="45720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User: wallet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20520"/>
            <a:ext cx="347472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0EEFF"/>
                </a:solidFill>
              </a:rPr>
              <a:t>Log in or sign up. Show the balance. Send money by phone number. See your own transaction history.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160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showBalance(), transferMoney()</a:t>
            </a:r>
            <a:endParaRPr lang="en-US" sz="1100" dirty="0"/>
          </a:p>
        </p:txBody>
      </p:sp>
      <p:sp>
        <p:nvSpPr>
          <p:cNvPr id="16" name="Card 4"/>
          <p:cNvSpPr/>
          <p:nvPr/>
        </p:nvSpPr>
        <p:spPr>
          <a:xfrm>
            <a:off x="475488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User: contacts and profile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520520"/>
            <a:ext cx="347472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0EEFF"/>
                </a:solidFill>
              </a:rPr>
              <a:t>Add, remove and show favourites. Search a recipient by phone. View or update the profile. Log out.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4160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addfav(), searchRecipient()</a:t>
            </a:r>
            <a:endParaRPr lang="en-US" sz="1100" dirty="0"/>
          </a:p>
        </p:txBody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What can the admin do?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QuickPay.purpose(Slide3.java:3)</a:t>
            </a:r>
            <a:endParaRPr lang="en-US" sz="1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Search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Find a user by ID, username, email or phone.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SearchUser()</a:t>
            </a:r>
            <a:endParaRPr lang="en-US" sz="1100" dirty="0"/>
          </a:p>
        </p:txBody>
      </p:sp>
      <p:sp>
        <p:nvSpPr>
          <p:cNvPr id="8" name="Card 2"/>
          <p:cNvSpPr/>
          <p:nvPr/>
        </p:nvSpPr>
        <p:spPr>
          <a:xfrm>
            <a:off x="4754880" y="132588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Update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874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Change the name, email or phone. Email and phone must stay unique.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updateUser()</a:t>
            </a:r>
            <a:endParaRPr lang="en-US" sz="1100" dirty="0"/>
          </a:p>
        </p:txBody>
      </p:sp>
      <p:sp>
        <p:nvSpPr>
          <p:cNvPr id="12" name="Card 3"/>
          <p:cNvSpPr/>
          <p:nvPr/>
        </p:nvSpPr>
        <p:spPr>
          <a:xfrm>
            <a:off x="45720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View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See all users, or see one user.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viewAllUsers()</a:t>
            </a:r>
            <a:endParaRPr lang="en-US" sz="1100" dirty="0"/>
          </a:p>
        </p:txBody>
      </p:sp>
      <p:sp>
        <p:nvSpPr>
          <p:cNvPr id="16" name="Card 4"/>
          <p:cNvSpPr/>
          <p:nvPr/>
        </p:nvSpPr>
        <p:spPr>
          <a:xfrm>
            <a:off x="475488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Block / Unblock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566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Stop a bad account. Turn it on again later.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BlockAccount()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How do we store the data?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QuickPay.storage(Slide4.java:4)</a:t>
            </a:r>
            <a:endParaRPr lang="en-US" sz="1000" dirty="0"/>
          </a:p>
        </p:txBody>
      </p:sp>
      <p:graphicFrame>
        <p:nvGraphicFramePr>
          <p:cNvPr id="5" name="Array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403194"/>
              </p:ext>
            </p:extLst>
          </p:nvPr>
        </p:nvGraphicFramePr>
        <p:xfrm>
          <a:off x="457200" y="1280160"/>
          <a:ext cx="8229600" cy="1767840"/>
        </p:xfrm>
        <a:graphic>
          <a:graphicData uri="http://schemas.openxmlformats.org/drawingml/2006/table">
            <a:tbl>
              <a:tblPr/>
              <a:tblGrid>
                <a:gridCol w="662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ids[]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usernames[]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Emails[]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phone_numbers[]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balance[]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753489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ahmed012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ahmed_mohamed@gmail.com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01036794460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1596060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992931</a:t>
                      </a: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amr_78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amr_youssef@gmail.com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01182173694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260015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758737</a:t>
                      </a:r>
                    </a:p>
                    <a:p>
                      <a:pPr marL="0" indent="0" algn="ctr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joe818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joe_yasser@gmail.com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01266433666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EE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150000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2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Note index"/>
          <p:cNvSpPr/>
          <p:nvPr/>
        </p:nvSpPr>
        <p:spPr>
          <a:xfrm>
            <a:off x="457200" y="32461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6" name="Note balance"/>
          <p:cNvSpPr/>
          <p:nvPr/>
        </p:nvSpPr>
        <p:spPr>
          <a:xfrm>
            <a:off x="4663440" y="32461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EEFF"/>
                </a:solidFill>
              </a:rPr>
              <a:t>Same index = same user in every array.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0EEFF"/>
                </a:solidFill>
              </a:rPr>
              <a:t>Money is saved in piasters (100 piasters = 1 EGP). </a:t>
            </a:r>
            <a:r>
              <a:rPr lang="en-US" sz="15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"1596060 / 100"</a:t>
            </a:r>
            <a:r>
              <a:rPr lang="en-US" sz="1500" dirty="0">
                <a:solidFill>
                  <a:srgbClr val="F0EEFF"/>
                </a:solidFill>
              </a:rPr>
              <a:t> = 15960.6 EGP.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The arrays in the code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 (FinalProject.java:5)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423160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The arrays in the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80" y="1371600"/>
            <a:ext cx="4166920" cy="2240280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886200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886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All arrays have 100 slots. Same index = same user.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7-13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One array per user field.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"balance"</a:t>
            </a:r>
            <a:r>
              <a:rPr lang="en-US" sz="1300" dirty="0">
                <a:solidFill>
                  <a:srgbClr val="F0EEFF"/>
                </a:solidFill>
              </a:rPr>
              <a:t> is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"long"</a:t>
            </a:r>
            <a:r>
              <a:rPr lang="en-US" sz="1300" dirty="0">
                <a:solidFill>
                  <a:srgbClr val="F0EEFF"/>
                </a:solidFill>
              </a:rPr>
              <a:t>: money in piasters.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15-18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Transaction arrays: amount, sender, receiver and status.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20-21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"favourits"</a:t>
            </a:r>
            <a:r>
              <a:rPr lang="en-US" sz="1300" dirty="0">
                <a:solidFill>
                  <a:srgbClr val="F0EEFF"/>
                </a:solidFill>
              </a:rPr>
              <a:t> is 2D: 10 favourites per user.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"countfav"</a:t>
            </a:r>
            <a:r>
              <a:rPr lang="en-US" sz="1300" dirty="0">
                <a:solidFill>
                  <a:srgbClr val="F0EEFF"/>
                </a:solidFill>
              </a:rPr>
              <a:t> counts them.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main(): the main menu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FinalProject.main(FinalProject.java:516)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216038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main(): the main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2033158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679078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67907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Two roles, one menu: the Admin Panel and the User Panel.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550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The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"while (true)"</a:t>
            </a:r>
            <a:r>
              <a:rPr lang="en-US" sz="1300" dirty="0">
                <a:solidFill>
                  <a:srgbClr val="F0EEFF"/>
                </a:solidFill>
              </a:rPr>
              <a:t> loop keeps the app running until the user chooses Exit.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552-556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Prints the Quick Pay menu: 1 Admin, 2 User, 3 Exit.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557-560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Reads the choice in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r>
              <a:rPr lang="en-US" sz="1300" dirty="0">
                <a:solidFill>
                  <a:srgbClr val="F0EEFF"/>
                </a:solidFill>
              </a:rPr>
              <a:t>. Then a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"switch"</a:t>
            </a:r>
            <a:r>
              <a:rPr lang="en-US" sz="1300" dirty="0">
                <a:solidFill>
                  <a:srgbClr val="F0EEFF"/>
                </a:solidFill>
              </a:rPr>
              <a:t> opens the matching case.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Admin login()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FinalProject.login_admin(FinalProject.java:26)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491150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Admin login(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4297680" cy="2308270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954190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95419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Only the correct admin name and password open the Admin Panel.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27-28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Asks for the admin name and reads it with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"input.next()"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29-35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the name is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r>
              <a:rPr lang="en-US" sz="1300" dirty="0">
                <a:solidFill>
                  <a:srgbClr val="F0EEFF"/>
                </a:solidFill>
              </a:rPr>
              <a:t> (case does not matter), it asks for the password. A correct password returns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"true"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36-42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Wrong password or wrong name: print a message and return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"false"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Admin Panel menu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FinalProject.main(FinalProject.java:567)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423160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Admin Panel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26" y="1371600"/>
            <a:ext cx="4485227" cy="2240280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886200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886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Each menu number calls one method, like showstatistics().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568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Once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"login_admin()"</a:t>
            </a:r>
            <a:r>
              <a:rPr lang="en-US" sz="1300" dirty="0">
                <a:solidFill>
                  <a:srgbClr val="F0EEFF"/>
                </a:solidFill>
              </a:rPr>
              <a:t> is true,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"adminloggedin"</a:t>
            </a:r>
            <a:r>
              <a:rPr lang="en-US" sz="1300" dirty="0">
                <a:solidFill>
                  <a:srgbClr val="F0EEFF"/>
                </a:solidFill>
              </a:rPr>
              <a:t> becomes true.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569-580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The loop prints the 9 admin options again and again until logout.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581-583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Reads the choice in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r>
              <a:rPr lang="en-US" sz="1300" dirty="0">
                <a:solidFill>
                  <a:srgbClr val="F0EEFF"/>
                </a:solidFill>
              </a:rPr>
              <a:t>. Each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"case"</a:t>
            </a:r>
            <a:r>
              <a:rPr lang="en-US" sz="1300" dirty="0">
                <a:solidFill>
                  <a:srgbClr val="F0EEFF"/>
                </a:solidFill>
              </a:rPr>
              <a:t> calls one admin method.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showStatistics(): count users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FinalProject.showstatistics(FinalProject.java:741)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357012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showStatistics(): count us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174132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2820052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8200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Statistics are calculated from the real data.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742-745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Counters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"active"</a:t>
            </a:r>
            <a:r>
              <a:rPr lang="en-US" sz="1300" dirty="0">
                <a:solidFill>
                  <a:srgbClr val="F0EEFF"/>
                </a:solidFill>
              </a:rPr>
              <a:t> and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"blocked"</a:t>
            </a:r>
            <a:r>
              <a:rPr lang="en-US" sz="1300" dirty="0">
                <a:solidFill>
                  <a:srgbClr val="F0EEFF"/>
                </a:solidFill>
              </a:rPr>
              <a:t> start at 0.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746-752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"for"</a:t>
            </a:r>
            <a:r>
              <a:rPr lang="en-US" sz="1300" dirty="0">
                <a:solidFill>
                  <a:srgbClr val="F0EEFF"/>
                </a:solidFill>
              </a:rPr>
              <a:t> loop checks the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"account_status"</a:t>
            </a:r>
            <a:r>
              <a:rPr lang="en-US" sz="1300" dirty="0">
                <a:solidFill>
                  <a:srgbClr val="F0EEFF"/>
                </a:solidFill>
              </a:rPr>
              <a:t> of every user.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747-750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"!= null"</a:t>
            </a:r>
            <a:r>
              <a:rPr lang="en-US" sz="1300" dirty="0">
                <a:solidFill>
                  <a:srgbClr val="F0EEFF"/>
                </a:solidFill>
              </a:rPr>
              <a:t> avoids errors.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"equalsIgnoreCase()"</a:t>
            </a:r>
            <a:r>
              <a:rPr lang="en-US" sz="1300" dirty="0">
                <a:solidFill>
                  <a:srgbClr val="F0EEFF"/>
                </a:solidFill>
              </a:rPr>
              <a:t> counts Active and Blocked accounts.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showStatistics(): transfers and report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FinalProject.showstatistics(FinalProject.java:741)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932107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showStatistics(): transfers and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749227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395147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395147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The admin sees the whole app at a glance.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753-755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Counters for successful and failed transactions, plus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"totaltransfers"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756-763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Loops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"transaction_status"</a:t>
            </a:r>
            <a:r>
              <a:rPr lang="en-US" sz="1300" dirty="0">
                <a:solidFill>
                  <a:srgbClr val="F0EEFF"/>
                </a:solidFill>
              </a:rPr>
              <a:t>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"Approved"</a:t>
            </a:r>
            <a:r>
              <a:rPr lang="en-US" sz="1300" dirty="0">
                <a:solidFill>
                  <a:srgbClr val="F0EEFF"/>
                </a:solidFill>
              </a:rPr>
              <a:t> = successful (amount added).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"Declined"</a:t>
            </a:r>
            <a:r>
              <a:rPr lang="en-US" sz="1300" dirty="0">
                <a:solidFill>
                  <a:srgbClr val="F0EEFF"/>
                </a:solidFill>
              </a:rPr>
              <a:t> = failed.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764-771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Prints the admin report: users, active, blocked, successful, failed and total transfers.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Example: the admin searches for amr_78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QuickPay.trace(Slide5.java:5)</a:t>
            </a:r>
            <a:endParaRPr lang="en-US" sz="1000" dirty="0"/>
          </a:p>
        </p:txBody>
      </p:sp>
      <p:sp>
        <p:nvSpPr>
          <p:cNvPr id="4" name="Console"/>
          <p:cNvSpPr/>
          <p:nvPr/>
        </p:nvSpPr>
        <p:spPr>
          <a:xfrm>
            <a:off x="457200" y="1280160"/>
            <a:ext cx="4297680" cy="3154680"/>
          </a:xfrm>
          <a:prstGeom prst="roundRect">
            <a:avLst>
              <a:gd name="adj" fmla="val 2319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user ID, username, email, or phone: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amr_78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0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F0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ID: </a:t>
            </a:r>
            <a:r>
              <a:rPr lang="en-US" sz="1100" i="1" dirty="0">
                <a:solidFill>
                  <a:schemeClr val="bg1"/>
                </a:solidFill>
              </a:rPr>
              <a:t>992931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0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Username: amr_78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0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amr_youssef@gmail.com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0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Phone: 01182173694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F0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Balance: 2600.15 EGP</a:t>
            </a:r>
            <a:endParaRPr lang="en-US" sz="11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Status: ACTIVE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0" y="1371600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280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0EEFF"/>
                </a:solidFill>
              </a:rPr>
              <a:t>Is there an ID </a:t>
            </a:r>
            <a:r>
              <a:rPr lang="en-US" sz="14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400" i="1" dirty="0">
                <a:solidFill>
                  <a:schemeClr val="accent3"/>
                </a:solidFill>
              </a:rPr>
              <a:t>amr_78</a:t>
            </a:r>
            <a:r>
              <a:rPr lang="en-US" sz="14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400" dirty="0">
                <a:solidFill>
                  <a:srgbClr val="F0EEFF"/>
                </a:solidFill>
              </a:rPr>
              <a:t>? No. We get </a:t>
            </a:r>
            <a:r>
              <a:rPr lang="en-US" sz="1400" dirty="0">
                <a:solidFill>
                  <a:srgbClr val="00B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"-1</a:t>
            </a:r>
            <a:r>
              <a:rPr lang="en-US" sz="14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400" dirty="0">
                <a:solidFill>
                  <a:srgbClr val="F0EEFF"/>
                </a:solidFill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2194560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103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Is there a username </a:t>
            </a:r>
            <a:r>
              <a:rPr lang="en-US" sz="14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"amr_78"</a:t>
            </a:r>
            <a:r>
              <a:rPr lang="en-US" sz="1400" dirty="0">
                <a:solidFill>
                  <a:srgbClr val="F0EEFF"/>
                </a:solidFill>
              </a:rPr>
              <a:t>? Yes! It is at </a:t>
            </a:r>
            <a:r>
              <a:rPr lang="en-US" sz="14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 = 1"</a:t>
            </a:r>
            <a:r>
              <a:rPr lang="en-US" sz="1400" dirty="0">
                <a:solidFill>
                  <a:srgbClr val="F0EEFF"/>
                </a:solidFill>
              </a:rPr>
              <a:t>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0" y="3017520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We stop here. We do not check email or phone.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640" y="3840480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"printUser(1)"</a:t>
            </a:r>
            <a:r>
              <a:rPr lang="en-US" sz="1400" dirty="0">
                <a:solidFill>
                  <a:srgbClr val="F0EEFF"/>
                </a:solidFill>
              </a:rPr>
              <a:t> prints all the data of this user.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How the search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QuickPay.search(Slide6.java:6)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A59BD6"/>
                </a:solidFill>
              </a:rPr>
              <a:t>The admin types one value. We try the methods in order, until one of them finds the user.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411480" y="1600200"/>
            <a:ext cx="1874520" cy="2880360"/>
          </a:xfrm>
          <a:prstGeom prst="roundRect">
            <a:avLst>
              <a:gd name="adj" fmla="val 3902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55F7"/>
                </a:solidFill>
              </a:rPr>
              <a:t>1) By ID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Find_User_By_id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Compares the value with every ID.</a:t>
            </a:r>
            <a:endParaRPr lang="en-US" sz="1300" dirty="0"/>
          </a:p>
        </p:txBody>
      </p:sp>
      <p:sp>
        <p:nvSpPr>
          <p:cNvPr id="9" name="Example 1"/>
          <p:cNvSpPr/>
          <p:nvPr/>
        </p:nvSpPr>
        <p:spPr>
          <a:xfrm>
            <a:off x="502920" y="3566160"/>
            <a:ext cx="1655064" cy="777240"/>
          </a:xfrm>
          <a:prstGeom prst="roundRect">
            <a:avLst>
              <a:gd name="adj" fmla="val 9412"/>
            </a:avLst>
          </a:prstGeom>
          <a:solidFill>
            <a:srgbClr val="1A144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3611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3813048"/>
            <a:ext cx="1508760" cy="23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chemeClr val="bg1"/>
                </a:solidFill>
              </a:rPr>
              <a:t>992931</a:t>
            </a:r>
            <a:endParaRPr lang="en-US" sz="9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index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04288" y="2743200"/>
            <a:ext cx="237744" cy="237744"/>
          </a:xfrm>
          <a:prstGeom prst="rightArrow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3" name="Step 2"/>
          <p:cNvSpPr/>
          <p:nvPr/>
        </p:nvSpPr>
        <p:spPr>
          <a:xfrm>
            <a:off x="2560320" y="1600200"/>
            <a:ext cx="1874520" cy="2880360"/>
          </a:xfrm>
          <a:prstGeom prst="roundRect">
            <a:avLst>
              <a:gd name="adj" fmla="val 3902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55F7"/>
                </a:solidFill>
              </a:rPr>
              <a:t>2) By username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Find_User_By_Name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The same, but for usernames. Upper or lower case does not matter.</a:t>
            </a:r>
            <a:endParaRPr lang="en-US" sz="1300" dirty="0"/>
          </a:p>
        </p:txBody>
      </p:sp>
      <p:sp>
        <p:nvSpPr>
          <p:cNvPr id="17" name="Example 2"/>
          <p:cNvSpPr/>
          <p:nvPr/>
        </p:nvSpPr>
        <p:spPr>
          <a:xfrm>
            <a:off x="2670048" y="3566160"/>
            <a:ext cx="1655064" cy="777240"/>
          </a:xfrm>
          <a:prstGeom prst="roundRect">
            <a:avLst>
              <a:gd name="adj" fmla="val 9412"/>
            </a:avLst>
          </a:prstGeom>
          <a:solidFill>
            <a:srgbClr val="1A144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61488" y="3611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761488" y="38130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AMR_78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index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53128" y="2743200"/>
            <a:ext cx="237744" cy="237744"/>
          </a:xfrm>
          <a:prstGeom prst="rightArrow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1" name="Step 3"/>
          <p:cNvSpPr/>
          <p:nvPr/>
        </p:nvSpPr>
        <p:spPr>
          <a:xfrm>
            <a:off x="4709160" y="1600200"/>
            <a:ext cx="1874520" cy="2880360"/>
          </a:xfrm>
          <a:prstGeom prst="roundRect">
            <a:avLst>
              <a:gd name="adj" fmla="val 3902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855F7"/>
                </a:solidFill>
              </a:rPr>
              <a:t>3) Email or phone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258568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Find_User_Email_OR_Phone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Compares the value with every email and every phone number.</a:t>
            </a:r>
            <a:endParaRPr lang="en-US" sz="1300" dirty="0"/>
          </a:p>
        </p:txBody>
      </p:sp>
      <p:sp>
        <p:nvSpPr>
          <p:cNvPr id="25" name="Example 3"/>
          <p:cNvSpPr/>
          <p:nvPr/>
        </p:nvSpPr>
        <p:spPr>
          <a:xfrm>
            <a:off x="4818888" y="3566160"/>
            <a:ext cx="1655064" cy="777240"/>
          </a:xfrm>
          <a:prstGeom prst="roundRect">
            <a:avLst>
              <a:gd name="adj" fmla="val 9412"/>
            </a:avLst>
          </a:prstGeom>
          <a:solidFill>
            <a:srgbClr val="1A144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10328" y="3611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910328" y="38130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01182173694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index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01968" y="2743200"/>
            <a:ext cx="237744" cy="237744"/>
          </a:xfrm>
          <a:prstGeom prst="rightArrow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9" name="Step 4"/>
          <p:cNvSpPr/>
          <p:nvPr/>
        </p:nvSpPr>
        <p:spPr>
          <a:xfrm>
            <a:off x="6858000" y="1600200"/>
            <a:ext cx="1874520" cy="2880360"/>
          </a:xfrm>
          <a:prstGeom prst="roundRect">
            <a:avLst>
              <a:gd name="adj" fmla="val 3902"/>
            </a:avLst>
          </a:prstGeom>
          <a:solidFill>
            <a:srgbClr val="1A1446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9516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9D"/>
                </a:solidFill>
              </a:rPr>
              <a:t>4) Not found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-1;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All 3 methods failed, so we print: User not found.</a:t>
            </a:r>
            <a:endParaRPr lang="en-US" sz="1300" dirty="0"/>
          </a:p>
        </p:txBody>
      </p:sp>
      <p:sp>
        <p:nvSpPr>
          <p:cNvPr id="33" name="Example 4"/>
          <p:cNvSpPr/>
          <p:nvPr/>
        </p:nvSpPr>
        <p:spPr>
          <a:xfrm>
            <a:off x="6967728" y="3566160"/>
            <a:ext cx="1655064" cy="777240"/>
          </a:xfrm>
          <a:prstGeom prst="roundRect">
            <a:avLst>
              <a:gd name="adj" fmla="val 9412"/>
            </a:avLst>
          </a:prstGeom>
          <a:solidFill>
            <a:srgbClr val="1A1446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59168" y="3611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059168" y="38130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-1</a:t>
            </a:r>
            <a:endParaRPr lang="en-US" sz="1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SearchUser(): the start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FinalProject.SearchUser(FinalProject.java:218)</a:t>
            </a:r>
            <a:endParaRPr lang="en-US" sz="1000" dirty="0"/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116695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SearchUser(): the st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572000" cy="1933815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579735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579735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SearchUser does not search by itself. It asks another method to do 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1280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219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Asks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"Find_User_From_Prompt()"</a:t>
            </a:r>
            <a:r>
              <a:rPr lang="en-US" sz="1300" dirty="0">
                <a:solidFill>
                  <a:srgbClr val="F0EEFF"/>
                </a:solidFill>
              </a:rPr>
              <a:t> for the user's position.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3774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220-221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it returns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"-1"</a:t>
            </a:r>
            <a:r>
              <a:rPr lang="en-US" sz="1300" dirty="0">
                <a:solidFill>
                  <a:srgbClr val="F0EEFF"/>
                </a:solidFill>
              </a:rPr>
              <a:t>, we print: User Not Found.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347472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222-223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Otherwise,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"printUser(index)"</a:t>
            </a:r>
            <a:r>
              <a:rPr lang="en-US" sz="1300" dirty="0">
                <a:solidFill>
                  <a:srgbClr val="F0EEFF"/>
                </a:solidFill>
              </a:rPr>
              <a:t> shows the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Search by ID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FinalProject.Find_User_By_id(FinalProject.java:232)</a:t>
            </a:r>
            <a:endParaRPr lang="en-US" sz="1000" dirty="0"/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732493"/>
          </a:xfrm>
          <a:prstGeom prst="roundRect">
            <a:avLst>
              <a:gd name="adj" fmla="val 4222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Search by I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572000" cy="1549613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195533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195533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It returns the user's position, or -1.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1280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233: the loop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We check the users one by one, from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"0"</a:t>
            </a:r>
            <a:r>
              <a:rPr lang="en-US" sz="1300" dirty="0">
                <a:solidFill>
                  <a:srgbClr val="F0EEFF"/>
                </a:solidFill>
              </a:rPr>
              <a:t> to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"userCount - 1"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3774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234: safe check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We check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"ids[i] != null"</a:t>
            </a:r>
            <a:r>
              <a:rPr lang="en-US" sz="1300" dirty="0">
                <a:solidFill>
                  <a:srgbClr val="F0EEFF"/>
                </a:solidFill>
              </a:rPr>
              <a:t> first, so the code does not crash on an empty slot.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347472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235 and 238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 i"</a:t>
            </a:r>
            <a:r>
              <a:rPr lang="en-US" sz="1300" dirty="0">
                <a:solidFill>
                  <a:srgbClr val="F0EEFF"/>
                </a:solidFill>
              </a:rPr>
              <a:t> means we found it.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 -1"</a:t>
            </a:r>
            <a:r>
              <a:rPr lang="en-US" sz="1300" dirty="0">
                <a:solidFill>
                  <a:srgbClr val="F0EEFF"/>
                </a:solidFill>
              </a:rPr>
              <a:t> means we did not find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Search by email or phone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FinalProject.Find_User_Email_OR_Phone(FinalProject.java:252)</a:t>
            </a:r>
            <a:endParaRPr lang="en-US" sz="1000" dirty="0"/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509379"/>
          </a:xfrm>
          <a:prstGeom prst="roundRect">
            <a:avLst>
              <a:gd name="adj" fmla="val 484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Search by email or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572000" cy="1326499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2972419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972419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Same idea as the ID search: loop, check, return.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1280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254: email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It matches even if the case is different (upper or lower).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3774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255: phone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"||"</a:t>
            </a:r>
            <a:r>
              <a:rPr lang="en-US" sz="1300" dirty="0">
                <a:solidFill>
                  <a:srgbClr val="F0EEFF"/>
                </a:solidFill>
              </a:rPr>
              <a:t> means OR: the email or the phone can match.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347472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Why one method?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The admin types one value. We do not know if it is an email or a phone.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Find_User_From_Prompt()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FinalProject.Find_User_From_Prompt(FinalProject.java:263)</a:t>
            </a:r>
            <a:endParaRPr lang="en-US" sz="1000" dirty="0"/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298087"/>
          </a:xfrm>
          <a:prstGeom prst="roundRect">
            <a:avLst>
              <a:gd name="adj" fmla="val 3183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Find_User_From_Prompt(): the b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572000" cy="2115207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761127"/>
            <a:ext cx="4754880" cy="810873"/>
          </a:xfrm>
          <a:prstGeom prst="roundRect">
            <a:avLst>
              <a:gd name="adj" fmla="val 9021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761127"/>
            <a:ext cx="4389120" cy="810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All 5 admin actions use this method.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1280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264-266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We ask the admin, then read the answer with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"input.nextLine()"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3774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267-275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Try the ID first. Still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"-1"</a:t>
            </a:r>
            <a:r>
              <a:rPr lang="en-US" sz="1300" dirty="0">
                <a:solidFill>
                  <a:srgbClr val="F0EEFF"/>
                </a:solidFill>
              </a:rPr>
              <a:t>? Try the name. Still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"-1"</a:t>
            </a:r>
            <a:r>
              <a:rPr lang="en-US" sz="1300" dirty="0">
                <a:solidFill>
                  <a:srgbClr val="F0EEFF"/>
                </a:solidFill>
              </a:rPr>
              <a:t>? Try email or phone.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347472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276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Return the position, or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"-1"</a:t>
            </a:r>
            <a:r>
              <a:rPr lang="en-US" sz="1300" dirty="0">
                <a:solidFill>
                  <a:srgbClr val="F0EEFF"/>
                </a:solidFill>
              </a:rPr>
              <a:t> if nothing matched.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One method, many uses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QuickPay.reuse(Slide11.java:11)</a:t>
            </a:r>
            <a:endParaRPr lang="en-US" sz="1000" dirty="0"/>
          </a:p>
        </p:txBody>
      </p:sp>
      <p:sp>
        <p:nvSpPr>
          <p:cNvPr id="4" name="Box SearchUser()"/>
          <p:cNvSpPr/>
          <p:nvPr/>
        </p:nvSpPr>
        <p:spPr>
          <a:xfrm>
            <a:off x="457200" y="12344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SearchUser()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08760" y="1874520"/>
            <a:ext cx="274320" cy="457200"/>
          </a:xfrm>
          <a:prstGeom prst="downArrow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7" name="Box updateUser()"/>
          <p:cNvSpPr/>
          <p:nvPr/>
        </p:nvSpPr>
        <p:spPr>
          <a:xfrm>
            <a:off x="3383280" y="12344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34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updateUser()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274320" cy="457200"/>
          </a:xfrm>
          <a:prstGeom prst="downArrow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0" name="Box BlockAccount()"/>
          <p:cNvSpPr/>
          <p:nvPr/>
        </p:nvSpPr>
        <p:spPr>
          <a:xfrm>
            <a:off x="6309360" y="12344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234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BlockAccount()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60920" y="1874520"/>
            <a:ext cx="274320" cy="457200"/>
          </a:xfrm>
          <a:prstGeom prst="downArrow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3" name="Box unblockAccount()"/>
          <p:cNvSpPr/>
          <p:nvPr/>
        </p:nvSpPr>
        <p:spPr>
          <a:xfrm>
            <a:off x="1920240" y="370332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20240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unblockAccount()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71800" y="3246120"/>
            <a:ext cx="274320" cy="411480"/>
          </a:xfrm>
          <a:prstGeom prst="upArrow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6" name="Box viewUserDetails()"/>
          <p:cNvSpPr/>
          <p:nvPr/>
        </p:nvSpPr>
        <p:spPr>
          <a:xfrm>
            <a:off x="4846320" y="370332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viewUserDetails()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97880" y="3246120"/>
            <a:ext cx="274320" cy="411480"/>
          </a:xfrm>
          <a:prstGeom prst="upArrow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9" name="Hub"/>
          <p:cNvSpPr/>
          <p:nvPr/>
        </p:nvSpPr>
        <p:spPr>
          <a:xfrm>
            <a:off x="457200" y="23774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3B2F8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Find_User_From_Prompt()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EEFF"/>
                </a:solidFill>
              </a:rPr>
              <a:t>It asks the admin, tries ID, name, email or phone, and returns one position.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Java ideas in this code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QuickPay.concepts(Slide12.java:12)</a:t>
            </a:r>
            <a:endParaRPr lang="en-US" sz="1000" dirty="0"/>
          </a:p>
        </p:txBody>
      </p:sp>
      <p:sp>
        <p:nvSpPr>
          <p:cNvPr id="4" name="Concept 1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These methods belong to the class, so main can call them directly.</a:t>
            </a:r>
            <a:endParaRPr lang="en-US" sz="1300" dirty="0"/>
          </a:p>
        </p:txBody>
      </p:sp>
      <p:sp>
        <p:nvSpPr>
          <p:cNvPr id="7" name="Concept 2"/>
          <p:cNvSpPr/>
          <p:nvPr/>
        </p:nvSpPr>
        <p:spPr>
          <a:xfrm>
            <a:off x="256032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-1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783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An array has no position -1, so we use it to mean not found.</a:t>
            </a:r>
            <a:endParaRPr lang="en-US" sz="1300" dirty="0"/>
          </a:p>
        </p:txBody>
      </p:sp>
      <p:sp>
        <p:nvSpPr>
          <p:cNvPr id="10" name="Concept 3"/>
          <p:cNvSpPr/>
          <p:nvPr/>
        </p:nvSpPr>
        <p:spPr>
          <a:xfrm>
            <a:off x="468630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ids[i] != null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First check that the slot is not empty. This avoids a crash.</a:t>
            </a:r>
            <a:endParaRPr lang="en-US" sz="1300" dirty="0"/>
          </a:p>
        </p:txBody>
      </p:sp>
      <p:sp>
        <p:nvSpPr>
          <p:cNvPr id="13" name="Concept 4"/>
          <p:cNvSpPr/>
          <p:nvPr/>
        </p:nvSpPr>
        <p:spPr>
          <a:xfrm>
            <a:off x="676656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&amp;&amp; 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783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AND: true only if both sides are true.</a:t>
            </a:r>
            <a:endParaRPr lang="en-US" sz="1300" dirty="0"/>
          </a:p>
        </p:txBody>
      </p:sp>
      <p:sp>
        <p:nvSpPr>
          <p:cNvPr id="16" name="Concept 5"/>
          <p:cNvSpPr/>
          <p:nvPr/>
        </p:nvSpPr>
        <p:spPr>
          <a:xfrm>
            <a:off x="457200" y="30175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204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Same text and same letters. “Amr”, “</a:t>
            </a:r>
            <a:r>
              <a:rPr lang="en-US" sz="1300" dirty="0" err="1">
                <a:solidFill>
                  <a:srgbClr val="F0EEFF"/>
                </a:solidFill>
              </a:rPr>
              <a:t>amr</a:t>
            </a:r>
            <a:r>
              <a:rPr lang="en-US" sz="1300" dirty="0">
                <a:solidFill>
                  <a:srgbClr val="F0EEFF"/>
                </a:solidFill>
              </a:rPr>
              <a:t>”, and “AMR”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 are all different.</a:t>
            </a:r>
            <a:endParaRPr lang="en-US" sz="1300" dirty="0"/>
          </a:p>
        </p:txBody>
      </p:sp>
      <p:sp>
        <p:nvSpPr>
          <p:cNvPr id="19" name="Concept 6"/>
          <p:cNvSpPr/>
          <p:nvPr/>
        </p:nvSpPr>
        <p:spPr>
          <a:xfrm>
            <a:off x="2560320" y="30175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equalsIgnoreCase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35204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Same text. Upper or lower case does not matter.</a:t>
            </a:r>
            <a:endParaRPr lang="en-US" sz="1300" dirty="0"/>
          </a:p>
        </p:txBody>
      </p:sp>
      <p:sp>
        <p:nvSpPr>
          <p:cNvPr id="22" name="Concept 7"/>
          <p:cNvSpPr/>
          <p:nvPr/>
        </p:nvSpPr>
        <p:spPr>
          <a:xfrm>
            <a:off x="4663440" y="30175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|| 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5204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OR: true if the first or the second side is true.</a:t>
            </a:r>
            <a:endParaRPr lang="en-US" sz="1300" dirty="0"/>
          </a:p>
        </p:txBody>
      </p:sp>
      <p:sp>
        <p:nvSpPr>
          <p:cNvPr id="25" name="Concept 8"/>
          <p:cNvSpPr/>
          <p:nvPr/>
        </p:nvSpPr>
        <p:spPr>
          <a:xfrm>
            <a:off x="6766560" y="301752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isEmpty()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35204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Empty means the admin pressed Enter, so we skip this field.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printUser(): show one user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FinalProject.printUser(FinalProject.java:280)</a:t>
            </a:r>
            <a:endParaRPr lang="en-US" sz="1000" dirty="0"/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480572"/>
          </a:xfrm>
          <a:prstGeom prst="roundRect">
            <a:avLst>
              <a:gd name="adj" fmla="val 4941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printUser(): show one u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572000" cy="1297692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2943612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94361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Written once, used in many places.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1280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281-284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 the ID, username, email and phone of the user at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3774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285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Money is in piasters.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 100"</a:t>
            </a:r>
            <a:r>
              <a:rPr lang="en-US" sz="1300" dirty="0">
                <a:solidFill>
                  <a:srgbClr val="F0EEFF"/>
                </a:solidFill>
              </a:rPr>
              <a:t> changes it to pounds.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"(double)"</a:t>
            </a:r>
            <a:r>
              <a:rPr lang="en-US" sz="1300" dirty="0">
                <a:solidFill>
                  <a:srgbClr val="F0EEFF"/>
                </a:solidFill>
              </a:rPr>
              <a:t> keeps the decimals.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347472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286-287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 the status, then an empty 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viewAllUsers()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FinalProject.viewusers(FinalProject.java:774)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508097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viewAllUsers(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325217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2971137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971137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Same index = same user, so one loop prints everything.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776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Loops through the users from 0 up to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"userCount"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777-782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Uses the same index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"i"</a:t>
            </a:r>
            <a:r>
              <a:rPr lang="en-US" sz="1300" dirty="0">
                <a:solidFill>
                  <a:srgbClr val="F0EEFF"/>
                </a:solidFill>
              </a:rPr>
              <a:t> in every array to print one full user.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783-785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Prints a separator line, then the loop and the method end.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updateUser(): email and phone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FinalProject.updateUser(FinalProject.java:290)</a:t>
            </a:r>
            <a:endParaRPr lang="en-US" sz="1000" dirty="0"/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389120" cy="2935705"/>
          </a:xfrm>
          <a:prstGeom prst="roundRect">
            <a:avLst>
              <a:gd name="adj" fmla="val 2492"/>
            </a:avLst>
          </a:prstGeom>
          <a:solidFill>
            <a:srgbClr val="1A1446"/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sp>
      <p:pic>
        <p:nvPicPr>
          <p:cNvPr id="5" name="Image 0" descr="Code: updateUser(): email and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206240" cy="27528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1243584"/>
            <a:ext cx="30632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311-312: the email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the admin typed a new email, we look for who already has it.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"Check_Index"</a:t>
            </a:r>
            <a:r>
              <a:rPr lang="en-US" sz="1300" dirty="0">
                <a:solidFill>
                  <a:srgbClr val="F0EEFF"/>
                </a:solidFill>
              </a:rPr>
              <a:t> is that user's position, or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"-1"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20640" y="214426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21442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2125980"/>
            <a:ext cx="30632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314: can we save it?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Yes, if nobody has it (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"-1"</a:t>
            </a:r>
            <a:r>
              <a:rPr lang="en-US" sz="1300" dirty="0">
                <a:solidFill>
                  <a:srgbClr val="F0EEFF"/>
                </a:solidFill>
              </a:rPr>
              <a:t>) or if it already belongs to this same user (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"index"</a:t>
            </a:r>
            <a:r>
              <a:rPr lang="en-US" sz="1300" dirty="0">
                <a:solidFill>
                  <a:srgbClr val="F0EEFF"/>
                </a:solidFill>
              </a:rPr>
              <a:t>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120640" y="299008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206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2971800"/>
            <a:ext cx="30632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316-317: otherwise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We keep the old email and print: Email already used; unchanged.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120640" y="38359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20640" y="38359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623560" y="3817620"/>
            <a:ext cx="30632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321-329: the phone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The same steps, but for the phone number.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Demo: the email is already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QuickPay.demo(Slide15.java:15)</a:t>
            </a:r>
            <a:endParaRPr lang="en-US" sz="1000" dirty="0"/>
          </a:p>
        </p:txBody>
      </p:sp>
      <p:sp>
        <p:nvSpPr>
          <p:cNvPr id="4" name="Console"/>
          <p:cNvSpPr/>
          <p:nvPr/>
        </p:nvSpPr>
        <p:spPr>
          <a:xfrm>
            <a:off x="457200" y="1280160"/>
            <a:ext cx="5120640" cy="3154680"/>
          </a:xfrm>
          <a:prstGeom prst="roundRect">
            <a:avLst>
              <a:gd name="adj" fmla="val 2319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user ID, username, email, or phone: </a:t>
            </a: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amr_78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new username (or press Enter to skip): </a:t>
            </a: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amr_new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new email (or press Enter to skip): </a:t>
            </a: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joe_yasser@gmail.com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A5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new phone (or press Enter to skip): </a:t>
            </a: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[Enter]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0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already used; unchanged.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update finished.</a:t>
            </a:r>
            <a:endParaRPr lang="en-US" sz="1000" dirty="0"/>
          </a:p>
        </p:txBody>
      </p:sp>
      <p:sp>
        <p:nvSpPr>
          <p:cNvPr id="6" name="Callout 1"/>
          <p:cNvSpPr/>
          <p:nvPr/>
        </p:nvSpPr>
        <p:spPr>
          <a:xfrm>
            <a:off x="5852160" y="128016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4173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55F7"/>
                </a:solidFill>
              </a:rPr>
              <a:t>New username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Saved right away.</a:t>
            </a:r>
            <a:endParaRPr lang="en-US" sz="1400" dirty="0"/>
          </a:p>
        </p:txBody>
      </p:sp>
      <p:sp>
        <p:nvSpPr>
          <p:cNvPr id="8" name="Callout 2"/>
          <p:cNvSpPr/>
          <p:nvPr/>
        </p:nvSpPr>
        <p:spPr>
          <a:xfrm>
            <a:off x="5852160" y="23774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25146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55F7"/>
                </a:solidFill>
              </a:rPr>
              <a:t>Email of joe818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Rejected. The old email stays.</a:t>
            </a:r>
            <a:endParaRPr lang="en-US" sz="1400" dirty="0"/>
          </a:p>
        </p:txBody>
      </p:sp>
      <p:sp>
        <p:nvSpPr>
          <p:cNvPr id="10" name="Callout 3"/>
          <p:cNvSpPr/>
          <p:nvPr/>
        </p:nvSpPr>
        <p:spPr>
          <a:xfrm>
            <a:off x="5852160" y="34747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3611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855F7"/>
                </a:solidFill>
              </a:rPr>
              <a:t>Phone: Enter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0EEFF"/>
                </a:solidFill>
              </a:rPr>
              <a:t>Skipped. Nothing changes.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Admin: transaction history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FinalProject.transactionhistory(FinalProject.java:787)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933326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Admin: transaction histo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750446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396366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39636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The admin sees every transaction of every user.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788-792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"totaltransactions"</a:t>
            </a:r>
            <a:r>
              <a:rPr lang="en-US" sz="1300" dirty="0">
                <a:solidFill>
                  <a:srgbClr val="F0EEFF"/>
                </a:solidFill>
              </a:rPr>
              <a:t> is 0: print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transactions found!"</a:t>
            </a:r>
            <a:r>
              <a:rPr lang="en-US" sz="1300" dirty="0">
                <a:solidFill>
                  <a:srgbClr val="F0EEFF"/>
                </a:solidFill>
              </a:rPr>
              <a:t> and exit with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793-794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Prints the title, then loops from 0 up to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"totaltransactions"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795-801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Prints the number (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+ 1"</a:t>
            </a:r>
            <a:r>
              <a:rPr lang="en-US" sz="1300" dirty="0">
                <a:solidFill>
                  <a:srgbClr val="F0EEFF"/>
                </a:solidFill>
              </a:rPr>
              <a:t>), sender, receiver, amount in EGP and status.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BlockAccount()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FinalProject.BlockAccount(FinalProject.java:350)</a:t>
            </a:r>
            <a:endParaRPr lang="en-US" sz="1000" dirty="0"/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3047401"/>
          </a:xfrm>
          <a:prstGeom prst="roundRect">
            <a:avLst>
              <a:gd name="adj" fmla="val 24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BlockAccount(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572000" cy="28645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28016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351-356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Find the user. If it is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"-1"</a:t>
            </a:r>
            <a:r>
              <a:rPr lang="en-US" sz="1300" dirty="0">
                <a:solidFill>
                  <a:srgbClr val="F0EEFF"/>
                </a:solidFill>
              </a:rPr>
              <a:t>, print User not found and stop.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237744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358-361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Is it already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"Blocked"</a:t>
            </a:r>
            <a:r>
              <a:rPr lang="en-US" sz="1300" dirty="0">
                <a:solidFill>
                  <a:srgbClr val="F0EEFF"/>
                </a:solidFill>
              </a:rPr>
              <a:t>? Tell the admin and stop.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347472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363-364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Change the status to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"Blocked"</a:t>
            </a:r>
            <a:r>
              <a:rPr lang="en-US" sz="1300" dirty="0">
                <a:solidFill>
                  <a:srgbClr val="F0EEFF"/>
                </a:solidFill>
              </a:rPr>
              <a:t> and print a message.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Unblock and view details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FinalProject.unblockAccount(FinalProject.java:367)</a:t>
            </a:r>
            <a:endParaRPr lang="en-US" sz="1000" dirty="0"/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3485902" cy="3291840"/>
          </a:xfrm>
          <a:prstGeom prst="roundRect">
            <a:avLst>
              <a:gd name="adj" fmla="val 2222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Unblock and view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303022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17422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217422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20342" y="1280160"/>
            <a:ext cx="39664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375-378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Is it already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"ACTIVE"</a:t>
            </a:r>
            <a:r>
              <a:rPr lang="en-US" sz="1300" dirty="0">
                <a:solidFill>
                  <a:srgbClr val="F0EEFF"/>
                </a:solidFill>
              </a:rPr>
              <a:t>? Then stop.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17422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17422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720342" y="2377440"/>
            <a:ext cx="39664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380-381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Change the status back to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"ACTIVE"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17422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17422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720342" y="3474720"/>
            <a:ext cx="39664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385-394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"viewUserDetails"</a:t>
            </a:r>
            <a:r>
              <a:rPr lang="en-US" sz="1300" dirty="0">
                <a:solidFill>
                  <a:srgbClr val="F0EEFF"/>
                </a:solidFill>
              </a:rPr>
              <a:t> works the same way: find the user, check, then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"printUser(index)"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User login()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FinalProject.login(FinalProject.java:45)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080083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User login(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897203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2543123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543123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A blocked account can never log in. A wrong password fails.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46-47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Asks for the email and reads it with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"input.next()"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48-49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Loops over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"Emails"</a:t>
            </a:r>
            <a:r>
              <a:rPr lang="en-US" sz="1300" dirty="0">
                <a:solidFill>
                  <a:srgbClr val="F0EEFF"/>
                </a:solidFill>
              </a:rPr>
              <a:t> to find the email. Upper or lower case does not matter.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51-53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the status is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"Blocked"</a:t>
            </a:r>
            <a:r>
              <a:rPr lang="en-US" sz="1300" dirty="0">
                <a:solidFill>
                  <a:srgbClr val="F0EEFF"/>
                </a:solidFill>
              </a:rPr>
              <a:t>, we print a message and stop.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SignUp(): place and email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FinalProject.SignUp(FinalProject.java:170)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423160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SignUp(): place and emai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15" y="1371600"/>
            <a:ext cx="4198450" cy="2240280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886200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886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Every email is unique: two users can not share one.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173-179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Looks for the first empty slot (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"null"</a:t>
            </a:r>
            <a:r>
              <a:rPr lang="en-US" sz="1300" dirty="0">
                <a:solidFill>
                  <a:srgbClr val="F0EEFF"/>
                </a:solidFill>
              </a:rPr>
              <a:t>) in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"Emails"</a:t>
            </a:r>
            <a:r>
              <a:rPr lang="en-US" sz="1300" dirty="0">
                <a:solidFill>
                  <a:srgbClr val="F0EEFF"/>
                </a:solidFill>
              </a:rPr>
              <a:t> and saves its index.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180-182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there is a place, ask for the new email.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184-188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Checks the email is not used. If it is, print a message and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 false"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SignUp(): save the user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FinalProject.SignUp(FinalProject.java:170)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240280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SignUp(): save the us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2057400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703320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7033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A new account starts Active with 0 balance. If all 100 slots are used: "System Full".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198-201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Saves the phone number and the password at the same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1214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1031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203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Creates a random 6-digit ID with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"Math.random()"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294436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29260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205-207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Balance starts at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"0L"</a:t>
            </a:r>
            <a:r>
              <a:rPr lang="en-US" sz="1300" dirty="0">
                <a:solidFill>
                  <a:srgbClr val="F0EEFF"/>
                </a:solidFill>
              </a:rPr>
              <a:t>, status is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"Active"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7" name="Shape"/>
          <p:cNvSpPr/>
          <p:nvPr/>
        </p:nvSpPr>
        <p:spPr>
          <a:xfrm>
            <a:off x="5486400" y="37673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8" name="Num"/>
          <p:cNvSpPr txBox="1"/>
          <p:nvPr/>
        </p:nvSpPr>
        <p:spPr>
          <a:xfrm>
            <a:off x="548640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4</a:t>
            </a:r>
          </a:p>
        </p:txBody>
      </p:sp>
      <p:sp>
        <p:nvSpPr>
          <p:cNvPr id="19" name="Step"/>
          <p:cNvSpPr txBox="1"/>
          <p:nvPr/>
        </p:nvSpPr>
        <p:spPr>
          <a:xfrm>
            <a:off x="5989320" y="37490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208-212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Prints the new ID, updates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"userCount"</a:t>
            </a:r>
            <a:r>
              <a:rPr lang="en-US" sz="1300" dirty="0">
                <a:solidFill>
                  <a:srgbClr val="F0EEFF"/>
                </a:solidFill>
              </a:rPr>
              <a:t>, returns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"true"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User Panel menu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FinalProject.main(FinalProject.java:653)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423160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User Panel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63" y="1371600"/>
            <a:ext cx="4424553" cy="2240280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886200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886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The user menu works like the admin menu.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654-665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The loop prints the 10 user options until logout.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666-667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Reads the choice in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669-672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"switch (z)"</a:t>
            </a:r>
            <a:r>
              <a:rPr lang="en-US" sz="1300" dirty="0">
                <a:solidFill>
                  <a:srgbClr val="F0EEFF"/>
                </a:solidFill>
              </a:rPr>
              <a:t>: each case calls one user method, like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"showBalance"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showBalance()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FinalProject.showBalance(FinalProject.java:83)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140366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showBalance(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957486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2603406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60340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A user only sees his own balance.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83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The method receives the logged-in email.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84-85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Loops until it finds this user in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"Emails"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86-88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"balance[i] / 100"</a:t>
            </a:r>
            <a:r>
              <a:rPr lang="en-US" sz="1300" dirty="0">
                <a:solidFill>
                  <a:srgbClr val="F0EEFF"/>
                </a:solidFill>
              </a:rPr>
              <a:t> in EGP, then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"break"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transferMoney(): 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FinalProject.transferMoney(FinalProject.java:402)</a:t>
            </a:r>
            <a:endParaRPr lang="en-US" sz="1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Description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286000" cy="2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400" dirty="0">
                <a:solidFill>
                  <a:srgbClr val="F0EEFF"/>
                </a:solidFill>
              </a:rPr>
              <a:t>It lets a user send money to another user by using the receiver's phone number.</a:t>
            </a:r>
          </a:p>
        </p:txBody>
      </p:sp>
      <p:sp>
        <p:nvSpPr>
          <p:cNvPr id="7" name="Card 2"/>
          <p:cNvSpPr/>
          <p:nvPr/>
        </p:nvSpPr>
        <p:spPr>
          <a:xfrm>
            <a:off x="3383280" y="1325880"/>
            <a:ext cx="5303520" cy="310896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1188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Processing</a:t>
            </a:r>
            <a:endParaRPr lang="en-US" sz="1800" dirty="0"/>
          </a:p>
        </p:txBody>
      </p:sp>
      <p:sp>
        <p:nvSpPr>
          <p:cNvPr id="9" name="Text 8"/>
          <p:cNvSpPr txBox="1"/>
          <p:nvPr/>
        </p:nvSpPr>
        <p:spPr>
          <a:xfrm>
            <a:off x="3611880" y="1920240"/>
            <a:ext cx="4846320" cy="2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1  </a:t>
            </a:r>
            <a:r>
              <a:rPr lang="en-US" sz="1250" dirty="0">
                <a:solidFill>
                  <a:srgbClr val="F0EEFF"/>
                </a:solidFill>
              </a:rPr>
              <a:t>The sender enters the receiver's phone number. The system searches for that account.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2  </a:t>
            </a:r>
            <a:r>
              <a:rPr lang="en-US" sz="1250" dirty="0">
                <a:solidFill>
                  <a:srgbClr val="F0EEFF"/>
                </a:solidFill>
              </a:rPr>
              <a:t>If the account is found, the system checks that it is not blocked, and that the sender did not enter his own number.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3  </a:t>
            </a:r>
            <a:r>
              <a:rPr lang="en-US" sz="1250" dirty="0">
                <a:solidFill>
                  <a:srgbClr val="F0EEFF"/>
                </a:solidFill>
              </a:rPr>
              <a:t>When all checks are done, the system asks for the amount. It must be more than zero.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4  </a:t>
            </a:r>
            <a:r>
              <a:rPr lang="en-US" sz="1250" dirty="0">
                <a:solidFill>
                  <a:srgbClr val="F0EEFF"/>
                </a:solidFill>
              </a:rPr>
              <a:t>If the sender's balance is less than the amount, the transfer is declined.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5  </a:t>
            </a:r>
            <a:r>
              <a:rPr lang="en-US" sz="1250" dirty="0">
                <a:solidFill>
                  <a:srgbClr val="F0EEFF"/>
                </a:solidFill>
              </a:rPr>
              <a:t>If the balance is enough, the system takes the amount from the sender and adds it to the receiver. The transaction is saved.</a:t>
            </a:r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transferMoney(): find the receiver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FinalProject.transferMoney(FinalProject.java:402)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930141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transferMoney(): find the recei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747261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393181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393181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The user sends money to another user by phone number. First we find the receiver.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409-411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Asks for the receiver phone number.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"receiverIndex = -1"</a:t>
            </a:r>
            <a:r>
              <a:rPr lang="en-US" sz="1300" dirty="0">
                <a:solidFill>
                  <a:srgbClr val="F0EEFF"/>
                </a:solidFill>
              </a:rPr>
              <a:t> means not found yet.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413-418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Loops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"phone_numbers"</a:t>
            </a:r>
            <a:r>
              <a:rPr lang="en-US" sz="1300" dirty="0">
                <a:solidFill>
                  <a:srgbClr val="F0EEFF"/>
                </a:solidFill>
              </a:rPr>
              <a:t>. If one matches, we save its position and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"break"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419-421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it is still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"-1"</a:t>
            </a:r>
            <a:r>
              <a:rPr lang="en-US" sz="1300" dirty="0">
                <a:solidFill>
                  <a:srgbClr val="F0EEFF"/>
                </a:solidFill>
              </a:rPr>
              <a:t>, we print: receiver not found.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transferMoney(): checks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FinalProject.transferMoney(FinalProject.java:402)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183390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transferMoney(): chec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2000510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646430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64643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Every rule is checked before any money moves.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429-433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the receiver account is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"Blocked"</a:t>
            </a:r>
            <a:r>
              <a:rPr lang="en-US" sz="1300" dirty="0">
                <a:solidFill>
                  <a:srgbClr val="F0EEFF"/>
                </a:solidFill>
              </a:rPr>
              <a:t>, the transfer is declined.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434-442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Reads the amount. If it is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"&lt;= 0"</a:t>
            </a:r>
            <a:r>
              <a:rPr lang="en-US" sz="1300" dirty="0">
                <a:solidFill>
                  <a:srgbClr val="F0EEFF"/>
                </a:solidFill>
              </a:rPr>
              <a:t>, we stop.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443-445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Amount is saved as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"long"</a:t>
            </a:r>
            <a:r>
              <a:rPr lang="en-US" sz="1300" dirty="0">
                <a:solidFill>
                  <a:srgbClr val="F0EEFF"/>
                </a:solidFill>
              </a:rPr>
              <a:t> piasters (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 100"</a:t>
            </a:r>
            <a:r>
              <a:rPr lang="en-US" sz="1300" dirty="0">
                <a:solidFill>
                  <a:srgbClr val="F0EEFF"/>
                </a:solidFill>
              </a:rPr>
              <a:t>). Not enough balance: declined.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transferMoney(): approved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FinalProject.transferMoney(FinalProject.java:402)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466748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transferMoney(): approv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283868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2929788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9297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A declined transfer is also recorded, and no balance changes.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454-455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Sender balance goes down. Receiver balance goes up by the same amount.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456-457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Prints: approved transaction.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458-462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Saves sender, receiver, amount and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"Approved"</a:t>
            </a:r>
            <a:r>
              <a:rPr lang="en-US" sz="1300" dirty="0">
                <a:solidFill>
                  <a:srgbClr val="F0EEFF"/>
                </a:solidFill>
              </a:rPr>
              <a:t>. Then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"totaltransactions++"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Money transfer rules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FinalProject.transferMoney(FinalProject.java:402)</a:t>
            </a:r>
          </a:p>
        </p:txBody>
      </p:sp>
      <p:sp>
        <p:nvSpPr>
          <p:cNvPr id="4" name="Rules card"/>
          <p:cNvSpPr/>
          <p:nvPr/>
        </p:nvSpPr>
        <p:spPr>
          <a:xfrm>
            <a:off x="457200" y="1280160"/>
            <a:ext cx="4754880" cy="2743200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5" name="Rules text"/>
          <p:cNvSpPr txBox="1"/>
          <p:nvPr/>
        </p:nvSpPr>
        <p:spPr>
          <a:xfrm>
            <a:off x="594360" y="141732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55F7"/>
                </a:solidFill>
              </a:rPr>
              <a:t>1  </a:t>
            </a:r>
            <a:r>
              <a:rPr lang="en-US" sz="1400" dirty="0">
                <a:solidFill>
                  <a:srgbClr val="F0EEFF"/>
                </a:solidFill>
              </a:rPr>
              <a:t>Receiver must exist</a:t>
            </a:r>
            <a:r>
              <a:rPr lang="en-US" sz="1100" dirty="0">
                <a:solidFill>
                  <a:srgbClr val="22D3EE"/>
                </a:solidFill>
                <a:latin typeface="Courier New" pitchFamily="34" charset="0"/>
              </a:rPr>
              <a:t>  L419-423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A855F7"/>
                </a:solidFill>
              </a:rPr>
              <a:t>2  </a:t>
            </a:r>
            <a:r>
              <a:rPr lang="en-US" sz="1400" dirty="0">
                <a:solidFill>
                  <a:srgbClr val="F0EEFF"/>
                </a:solidFill>
              </a:rPr>
              <a:t>Sender and receiver differ</a:t>
            </a:r>
            <a:r>
              <a:rPr lang="en-US" sz="1100" dirty="0">
                <a:solidFill>
                  <a:srgbClr val="22D3EE"/>
                </a:solidFill>
                <a:latin typeface="Courier New" pitchFamily="34" charset="0"/>
              </a:rPr>
              <a:t>  L424-428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A855F7"/>
                </a:solidFill>
              </a:rPr>
              <a:t>3  </a:t>
            </a:r>
            <a:r>
              <a:rPr lang="en-US" sz="1400" dirty="0">
                <a:solidFill>
                  <a:srgbClr val="F0EEFF"/>
                </a:solidFill>
              </a:rPr>
              <a:t>Sender is active</a:t>
            </a:r>
            <a:r>
              <a:rPr lang="en-US" sz="1100" dirty="0">
                <a:solidFill>
                  <a:srgbClr val="22D3EE"/>
                </a:solidFill>
                <a:latin typeface="Courier New" pitchFamily="34" charset="0"/>
              </a:rPr>
              <a:t>  login L51-53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A855F7"/>
                </a:solidFill>
              </a:rPr>
              <a:t>4  </a:t>
            </a:r>
            <a:r>
              <a:rPr lang="en-US" sz="1400" dirty="0">
                <a:solidFill>
                  <a:srgbClr val="F0EEFF"/>
                </a:solidFill>
              </a:rPr>
              <a:t>Receiver is active</a:t>
            </a:r>
            <a:r>
              <a:rPr lang="en-US" sz="1100" dirty="0">
                <a:solidFill>
                  <a:srgbClr val="22D3EE"/>
                </a:solidFill>
                <a:latin typeface="Courier New" pitchFamily="34" charset="0"/>
              </a:rPr>
              <a:t>  L429-433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A855F7"/>
                </a:solidFill>
              </a:rPr>
              <a:t>5  </a:t>
            </a:r>
            <a:r>
              <a:rPr lang="en-US" sz="1400" dirty="0">
                <a:solidFill>
                  <a:srgbClr val="F0EEFF"/>
                </a:solidFill>
              </a:rPr>
              <a:t>Amount is more than 0</a:t>
            </a:r>
            <a:r>
              <a:rPr lang="en-US" sz="1100" dirty="0">
                <a:solidFill>
                  <a:srgbClr val="22D3EE"/>
                </a:solidFill>
                <a:latin typeface="Courier New" pitchFamily="34" charset="0"/>
              </a:rPr>
              <a:t>  L438-442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A855F7"/>
                </a:solidFill>
              </a:rPr>
              <a:t>6  </a:t>
            </a:r>
            <a:r>
              <a:rPr lang="en-US" sz="1400" dirty="0">
                <a:solidFill>
                  <a:srgbClr val="F0EEFF"/>
                </a:solidFill>
              </a:rPr>
              <a:t>Enough balance</a:t>
            </a:r>
            <a:r>
              <a:rPr lang="en-US" sz="1100" dirty="0">
                <a:solidFill>
                  <a:srgbClr val="22D3EE"/>
                </a:solidFill>
                <a:latin typeface="Courier New" pitchFamily="34" charset="0"/>
              </a:rPr>
              <a:t>  L444-453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A855F7"/>
                </a:solidFill>
              </a:rPr>
              <a:t>7  </a:t>
            </a:r>
            <a:r>
              <a:rPr lang="en-US" sz="1400" dirty="0">
                <a:solidFill>
                  <a:srgbClr val="F0EEFF"/>
                </a:solidFill>
              </a:rPr>
              <a:t>Sender balance goes down</a:t>
            </a:r>
            <a:r>
              <a:rPr lang="en-US" sz="1100" dirty="0">
                <a:solidFill>
                  <a:srgbClr val="22D3EE"/>
                </a:solidFill>
                <a:latin typeface="Courier New" pitchFamily="34" charset="0"/>
              </a:rPr>
              <a:t>  L454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A855F7"/>
                </a:solidFill>
              </a:rPr>
              <a:t>8  </a:t>
            </a:r>
            <a:r>
              <a:rPr lang="en-US" sz="1400" dirty="0">
                <a:solidFill>
                  <a:srgbClr val="F0EEFF"/>
                </a:solidFill>
              </a:rPr>
              <a:t>Receiver goes up, same amount</a:t>
            </a:r>
            <a:r>
              <a:rPr lang="en-US" sz="1100" dirty="0">
                <a:solidFill>
                  <a:srgbClr val="22D3EE"/>
                </a:solidFill>
                <a:latin typeface="Courier New" pitchFamily="34" charset="0"/>
              </a:rPr>
              <a:t>  L455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A855F7"/>
                </a:solidFill>
              </a:rPr>
              <a:t>9  </a:t>
            </a:r>
            <a:r>
              <a:rPr lang="en-US" sz="1400" dirty="0">
                <a:solidFill>
                  <a:srgbClr val="F0EEFF"/>
                </a:solidFill>
              </a:rPr>
              <a:t>Every attempt is recorded</a:t>
            </a:r>
            <a:r>
              <a:rPr lang="en-US" sz="1100" dirty="0">
                <a:solidFill>
                  <a:srgbClr val="22D3EE"/>
                </a:solidFill>
                <a:latin typeface="Courier New" pitchFamily="34" charset="0"/>
              </a:rPr>
              <a:t>  L447-462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A855F7"/>
                </a:solidFill>
              </a:rPr>
              <a:t>10  </a:t>
            </a:r>
            <a:r>
              <a:rPr lang="en-US" sz="1400" dirty="0">
                <a:solidFill>
                  <a:srgbClr val="F0EEFF"/>
                </a:solidFill>
              </a:rPr>
              <a:t>Failed: balances unchanged</a:t>
            </a:r>
            <a:r>
              <a:rPr lang="en-US" sz="1100" dirty="0">
                <a:solidFill>
                  <a:srgbClr val="22D3EE"/>
                </a:solidFill>
                <a:latin typeface="Courier New" pitchFamily="34" charset="0"/>
              </a:rPr>
              <a:t>  return, L452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Rules 1-4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The checks: receiver exists, is not me, and both accounts are active.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Rules 5-6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Amount must be more than zero, and the sender must have enough money.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Rules 7-10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Update both balances. Record every attempt. Failed transfers change nothing.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Transaction history: 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FinalProject.TransactionHistory(FinalProject.java:467)</a:t>
            </a:r>
            <a:endParaRPr lang="en-US" sz="1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Description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286000" cy="2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400" dirty="0">
                <a:solidFill>
                  <a:srgbClr val="F0EEFF"/>
                </a:solidFill>
              </a:rPr>
              <a:t>It shows all the transactions the logged-in user did before, with the data of each transaction.</a:t>
            </a:r>
          </a:p>
        </p:txBody>
      </p:sp>
      <p:sp>
        <p:nvSpPr>
          <p:cNvPr id="7" name="Card 2"/>
          <p:cNvSpPr/>
          <p:nvPr/>
        </p:nvSpPr>
        <p:spPr>
          <a:xfrm>
            <a:off x="3383280" y="1325880"/>
            <a:ext cx="5303520" cy="310896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1188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Processing</a:t>
            </a:r>
            <a:endParaRPr lang="en-US" sz="1800" dirty="0"/>
          </a:p>
        </p:txBody>
      </p:sp>
      <p:sp>
        <p:nvSpPr>
          <p:cNvPr id="9" name="Text 8"/>
          <p:cNvSpPr txBox="1"/>
          <p:nvPr/>
        </p:nvSpPr>
        <p:spPr>
          <a:xfrm>
            <a:off x="3611880" y="1920240"/>
            <a:ext cx="4846320" cy="2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1  </a:t>
            </a:r>
            <a:r>
              <a:rPr lang="en-US" sz="1250" dirty="0">
                <a:solidFill>
                  <a:srgbClr val="F0EEFF"/>
                </a:solidFill>
              </a:rPr>
              <a:t>The system loops through all the stored transactions.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2  </a:t>
            </a:r>
            <a:r>
              <a:rPr lang="en-US" sz="1250" dirty="0">
                <a:solidFill>
                  <a:srgbClr val="F0EEFF"/>
                </a:solidFill>
              </a:rPr>
              <a:t>It looks for records where the logged-in user is the sender or the receiver.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3  </a:t>
            </a:r>
            <a:r>
              <a:rPr lang="en-US" sz="1250" dirty="0">
                <a:solidFill>
                  <a:srgbClr val="F0EEFF"/>
                </a:solidFill>
              </a:rPr>
              <a:t>For each record found, it prints the sender and receiver usernames, the amount in EGP, and the status: Approved or Declined.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4  </a:t>
            </a:r>
            <a:r>
              <a:rPr lang="en-US" sz="1250" dirty="0">
                <a:solidFill>
                  <a:srgbClr val="F0EEFF"/>
                </a:solidFill>
              </a:rPr>
              <a:t>If there are no transactions, it prints a message that there is no transaction history.</a:t>
            </a:r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User: transaction history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FinalProject.TransactionHistory(FinalProject.java:467)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829211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User: transaction histo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646331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292251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292251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Users see only their own transactions.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470-474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there are no transactions: print a message and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476-478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Loops all transactions. Keeps only the ones where the user is the sender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"or"</a:t>
            </a:r>
            <a:r>
              <a:rPr lang="en-US" sz="1300" dirty="0">
                <a:solidFill>
                  <a:srgbClr val="F0EEFF"/>
                </a:solidFill>
              </a:rPr>
              <a:t> the receiver.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479-485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Prints number, sender, receiver, amount and status.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addFavorite(): checks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FinalProject.addfav(FinalProject.java:807)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166872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addFavorite(): chec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983992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629912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62991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The list holds up to 10 favourites per user.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809-815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Searches the logged-in email in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"Emails"</a:t>
            </a:r>
            <a:r>
              <a:rPr lang="en-US" sz="1300" dirty="0">
                <a:solidFill>
                  <a:srgbClr val="F0EEFF"/>
                </a:solidFill>
              </a:rPr>
              <a:t> and saves the index in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"findex"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816-817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"findex == -1"</a:t>
            </a:r>
            <a:r>
              <a:rPr lang="en-US" sz="1300" dirty="0">
                <a:solidFill>
                  <a:srgbClr val="F0EEFF"/>
                </a:solidFill>
              </a:rPr>
              <a:t>, exit the method.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819-823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the list is full (10 names), show a warning and exit.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addFavorite(): add the name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FinalProject.addfav(FinalProject.java:807)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713683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addFavorite(): add the na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530803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176723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176723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No duplicate favourites are allowed.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825-826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Asks for the username to add.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828-834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Loops the favourites. Same name already there? Alert and stop.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835-838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Saves the name in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"favourits[findex]"</a:t>
            </a:r>
            <a:r>
              <a:rPr lang="en-US" sz="1300" dirty="0">
                <a:solidFill>
                  <a:srgbClr val="F0EEFF"/>
                </a:solidFill>
              </a:rPr>
              <a:t>, then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"countfav[findex]++"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removeFavorite(): checks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FinalProject.removefav(FinalProject.java:841)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166872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removeFavorite(): chec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983992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629912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62991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We can not remove from an empty list.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843-849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Finds the logged-in user index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"findex"</a:t>
            </a:r>
            <a:r>
              <a:rPr lang="en-US" sz="1300" dirty="0">
                <a:solidFill>
                  <a:srgbClr val="F0EEFF"/>
                </a:solidFill>
              </a:rPr>
              <a:t> in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"Emails"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851-852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the user is not found, exit.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854-857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"countfav[findex] == 0"</a:t>
            </a:r>
            <a:r>
              <a:rPr lang="en-US" sz="1300" dirty="0">
                <a:solidFill>
                  <a:srgbClr val="F0EEFF"/>
                </a:solidFill>
              </a:rPr>
              <a:t>: there is nothing to remove, so print an error and exit.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removeFavorite(): delete and shift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FinalProject.removefav(FinalProject.java:841)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996565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removeFavorite(): delete and shif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813685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459605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459605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Shifting left closes the empty slot.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862-867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Asks for the username to remove, then loops the favourites to find it.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"remove = i"</a:t>
            </a:r>
            <a:r>
              <a:rPr lang="en-US" sz="1300" dirty="0">
                <a:solidFill>
                  <a:srgbClr val="F0EEFF"/>
                </a:solidFill>
              </a:rPr>
              <a:t> saves its position.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868-872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found, shift the next names one step left. Then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"countfav[findex]--"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874-878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Prints a success message, or an error if the name is not in the list.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showFavorites()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FinalProject.showfav(FinalProject.java:882)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423160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showFavorites(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56" y="1371600"/>
            <a:ext cx="4302167" cy="2240280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886200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886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Only the favourites of the logged-in user are shown.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884-890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Finds the logged-in user index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"findex"</a:t>
            </a:r>
            <a:r>
              <a:rPr lang="en-US" sz="1300" dirty="0">
                <a:solidFill>
                  <a:srgbClr val="F0EEFF"/>
                </a:solidFill>
              </a:rPr>
              <a:t> with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"equalsIgnoreCase()"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893-897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"countfav[findex] == 0"</a:t>
            </a:r>
            <a:r>
              <a:rPr lang="en-US" sz="1300" dirty="0">
                <a:solidFill>
                  <a:srgbClr val="F0EEFF"/>
                </a:solidFill>
              </a:rPr>
              <a:t>, print: There is no favourites to show.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898-901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Loops up to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"countfav[findex]"</a:t>
            </a:r>
            <a:r>
              <a:rPr lang="en-US" sz="1300" dirty="0">
                <a:solidFill>
                  <a:srgbClr val="F0EEFF"/>
                </a:solidFill>
              </a:rPr>
              <a:t> and prints a numbered list (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+ 1"</a:t>
            </a:r>
            <a:r>
              <a:rPr lang="en-US" sz="1300" dirty="0">
                <a:solidFill>
                  <a:srgbClr val="F0EEFF"/>
                </a:solidFill>
              </a:rPr>
              <a:t>).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searchRecipient(): how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FinalProject.searchRecipient(FinalProject.java:493)</a:t>
            </a:r>
            <a:endParaRPr lang="en-US" sz="10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Description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286000" cy="2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400" dirty="0">
                <a:solidFill>
                  <a:srgbClr val="F0EEFF"/>
                </a:solidFill>
              </a:rPr>
              <a:t>It helps the sender confirm who the receiver is before making a transfer.</a:t>
            </a:r>
          </a:p>
        </p:txBody>
      </p:sp>
      <p:sp>
        <p:nvSpPr>
          <p:cNvPr id="7" name="Card 2"/>
          <p:cNvSpPr/>
          <p:nvPr/>
        </p:nvSpPr>
        <p:spPr>
          <a:xfrm>
            <a:off x="3383280" y="1325880"/>
            <a:ext cx="5303520" cy="3108960"/>
          </a:xfrm>
          <a:prstGeom prst="roundRect">
            <a:avLst>
              <a:gd name="adj" fmla="val 5000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1188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55F7"/>
                </a:solidFill>
              </a:rPr>
              <a:t>Processing</a:t>
            </a:r>
            <a:endParaRPr lang="en-US" sz="1800" dirty="0"/>
          </a:p>
        </p:txBody>
      </p:sp>
      <p:sp>
        <p:nvSpPr>
          <p:cNvPr id="9" name="Text 8"/>
          <p:cNvSpPr txBox="1"/>
          <p:nvPr/>
        </p:nvSpPr>
        <p:spPr>
          <a:xfrm>
            <a:off x="3611880" y="1920240"/>
            <a:ext cx="4846320" cy="2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1  </a:t>
            </a:r>
            <a:r>
              <a:rPr lang="en-US" sz="1250" dirty="0">
                <a:solidFill>
                  <a:srgbClr val="F0EEFF"/>
                </a:solidFill>
              </a:rPr>
              <a:t>The user enters the receiver's phone number.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2  </a:t>
            </a:r>
            <a:r>
              <a:rPr lang="en-US" sz="1250" dirty="0">
                <a:solidFill>
                  <a:srgbClr val="F0EEFF"/>
                </a:solidFill>
              </a:rPr>
              <a:t>The system searches the phone_numbers array to see if the number belongs to a user.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3  </a:t>
            </a:r>
            <a:r>
              <a:rPr lang="en-US" sz="1250" dirty="0">
                <a:solidFill>
                  <a:srgbClr val="F0EEFF"/>
                </a:solidFill>
              </a:rPr>
              <a:t>If it is found, the system prints "Recipient Found" with the username and the phone number.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2D3EE"/>
                </a:solidFill>
              </a:rPr>
              <a:t>4  </a:t>
            </a:r>
            <a:r>
              <a:rPr lang="en-US" sz="1250" dirty="0">
                <a:solidFill>
                  <a:srgbClr val="F0EEFF"/>
                </a:solidFill>
              </a:rPr>
              <a:t>If it is not found, the system prints that no user has this phone number.</a:t>
            </a:r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searchRecipient()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FinalProject.searchRecipient(FinalProject.java:493)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226231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searchRecipient(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2043351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689271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689271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It shows the username and phone, so the sender can confirm the receiver before a transfer.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497-498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Reads the phone number.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"searchindex = -1"</a:t>
            </a:r>
            <a:r>
              <a:rPr lang="en-US" sz="1300" dirty="0">
                <a:solidFill>
                  <a:srgbClr val="F0EEFF"/>
                </a:solidFill>
              </a:rPr>
              <a:t> means not found yet.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500-505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Loops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"phone_numbers"</a:t>
            </a:r>
            <a:r>
              <a:rPr lang="en-US" sz="1300" dirty="0">
                <a:solidFill>
                  <a:srgbClr val="F0EEFF"/>
                </a:solidFill>
              </a:rPr>
              <a:t> and saves the position of the match.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506-512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Found: print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"Recipient Found"</a:t>
            </a:r>
            <a:r>
              <a:rPr lang="en-US" sz="1300" dirty="0">
                <a:solidFill>
                  <a:srgbClr val="F0EEFF"/>
                </a:solidFill>
              </a:rPr>
              <a:t> with username and phone. Else: no user found.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viewProfile()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FinalProject.viewProfile(FinalProject.java:94)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902339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viewProfile(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719459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365379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365379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A user can only see his own profile.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95-96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Loops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"Emails"</a:t>
            </a:r>
            <a:r>
              <a:rPr lang="en-US" sz="1300" dirty="0">
                <a:solidFill>
                  <a:srgbClr val="F0EEFF"/>
                </a:solidFill>
              </a:rPr>
              <a:t> to find the logged-in user (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"currentemail"</a:t>
            </a:r>
            <a:r>
              <a:rPr lang="en-US" sz="1300" dirty="0">
                <a:solidFill>
                  <a:srgbClr val="F0EEFF"/>
                </a:solidFill>
              </a:rPr>
              <a:t>).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98-103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Prints ID, username, email, phone, password and account status.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 105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"break"</a:t>
            </a:r>
            <a:r>
              <a:rPr lang="en-US" sz="1300" dirty="0">
                <a:solidFill>
                  <a:srgbClr val="F0EEFF"/>
                </a:solidFill>
              </a:rPr>
              <a:t> stops the loop after the user is found.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updateProfile(): the email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FinalProject.updateProfile(FinalProject.java:110)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2015439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updateProfile(): the emai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832559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478479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478479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Only username, email, phone and password can change. Not balance, status or ID.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128-130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Case 2: asks for the new email.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131-132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"Find_User_Email_OR_Phone"</a:t>
            </a:r>
            <a:r>
              <a:rPr lang="en-US" sz="1300" dirty="0">
                <a:solidFill>
                  <a:srgbClr val="F0EEFF"/>
                </a:solidFill>
              </a:rPr>
              <a:t> finds who owns it. OK if nobody (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"-1"</a:t>
            </a:r>
            <a:r>
              <a:rPr lang="en-US" sz="1300" dirty="0">
                <a:solidFill>
                  <a:srgbClr val="F0EEFF"/>
                </a:solidFill>
              </a:rPr>
              <a:t>) or it is me (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"i"</a:t>
            </a:r>
            <a:r>
              <a:rPr lang="en-US" sz="1300" dirty="0">
                <a:solidFill>
                  <a:srgbClr val="F0EEFF"/>
                </a:solidFill>
              </a:rPr>
              <a:t>).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133-139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Saves the new email, or prints: already registered.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EEFF"/>
                </a:solidFill>
              </a:rPr>
              <a:t>logout()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6B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FinalProject.logout(FinalProject.java:73)</a:t>
            </a:r>
          </a:p>
        </p:txBody>
      </p:sp>
      <p:sp>
        <p:nvSpPr>
          <p:cNvPr id="4" name="Code card"/>
          <p:cNvSpPr/>
          <p:nvPr/>
        </p:nvSpPr>
        <p:spPr>
          <a:xfrm>
            <a:off x="457200" y="1280160"/>
            <a:ext cx="4754880" cy="1574582"/>
          </a:xfrm>
          <a:prstGeom prst="roundRect">
            <a:avLst>
              <a:gd name="adj" fmla="val 3456"/>
            </a:avLst>
          </a:prstGeom>
          <a:solidFill>
            <a:srgbClr val="1A1446"/>
          </a:solidFill>
          <a:ln w="12700">
            <a:solidFill>
              <a:srgbClr val="3B2F8F"/>
            </a:solidFill>
            <a:prstDash val="solid"/>
          </a:ln>
        </p:spPr>
      </p:sp>
      <p:pic>
        <p:nvPicPr>
          <p:cNvPr id="5" name="Image 0" descr="Code: logout(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72000" cy="1391702"/>
          </a:xfrm>
          <a:prstGeom prst="rect">
            <a:avLst/>
          </a:prstGeom>
        </p:spPr>
      </p:pic>
      <p:sp>
        <p:nvSpPr>
          <p:cNvPr id="6" name="Takeaway"/>
          <p:cNvSpPr/>
          <p:nvPr/>
        </p:nvSpPr>
        <p:spPr>
          <a:xfrm>
            <a:off x="457200" y="3037622"/>
            <a:ext cx="4754880" cy="640080"/>
          </a:xfrm>
          <a:prstGeom prst="roundRect">
            <a:avLst>
              <a:gd name="adj" fmla="val 8889"/>
            </a:avLst>
          </a:prstGeom>
          <a:solidFill>
            <a:srgbClr val="1A144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03762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EEFF"/>
                </a:solidFill>
              </a:rPr>
              <a:t>On </a:t>
            </a: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"true"</a:t>
            </a:r>
            <a:r>
              <a:rPr lang="en-US" sz="1400" b="1" dirty="0">
                <a:solidFill>
                  <a:srgbClr val="F0EEFF"/>
                </a:solidFill>
              </a:rPr>
              <a:t>, main clears </a:t>
            </a: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"currentemail"</a:t>
            </a:r>
            <a:r>
              <a:rPr lang="en-US" sz="1400" b="1" dirty="0">
                <a:solidFill>
                  <a:srgbClr val="F0EEFF"/>
                </a:solidFill>
              </a:rPr>
              <a:t> and goes back to the main menu.</a:t>
            </a:r>
          </a:p>
        </p:txBody>
      </p:sp>
      <p:sp>
        <p:nvSpPr>
          <p:cNvPr id="8" name="Shape"/>
          <p:cNvSpPr/>
          <p:nvPr/>
        </p:nvSpPr>
        <p:spPr>
          <a:xfrm>
            <a:off x="5486400" y="129844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" name="Num"/>
          <p:cNvSpPr txBox="1"/>
          <p:nvPr/>
        </p:nvSpPr>
        <p:spPr>
          <a:xfrm>
            <a:off x="548640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1</a:t>
            </a:r>
          </a:p>
        </p:txBody>
      </p:sp>
      <p:sp>
        <p:nvSpPr>
          <p:cNvPr id="10" name="Step"/>
          <p:cNvSpPr txBox="1"/>
          <p:nvPr/>
        </p:nvSpPr>
        <p:spPr>
          <a:xfrm>
            <a:off x="5989320" y="12801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74-75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Asks: Are you sure? and reads the answer.</a:t>
            </a:r>
          </a:p>
        </p:txBody>
      </p:sp>
      <p:sp>
        <p:nvSpPr>
          <p:cNvPr id="11" name="Shape"/>
          <p:cNvSpPr/>
          <p:nvPr/>
        </p:nvSpPr>
        <p:spPr>
          <a:xfrm>
            <a:off x="5486400" y="239572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Num"/>
          <p:cNvSpPr txBox="1"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2</a:t>
            </a:r>
          </a:p>
        </p:txBody>
      </p:sp>
      <p:sp>
        <p:nvSpPr>
          <p:cNvPr id="13" name="Step"/>
          <p:cNvSpPr txBox="1"/>
          <p:nvPr/>
        </p:nvSpPr>
        <p:spPr>
          <a:xfrm>
            <a:off x="59893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76-77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If the answer is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r>
              <a:rPr lang="en-US" sz="1300" dirty="0">
                <a:solidFill>
                  <a:srgbClr val="F0EEFF"/>
                </a:solidFill>
              </a:rPr>
              <a:t>, it returns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"true"</a:t>
            </a:r>
            <a:r>
              <a:rPr lang="en-US" sz="1300" dirty="0">
                <a:solidFill>
                  <a:srgbClr val="F0EEFF"/>
                </a:solidFill>
              </a:rPr>
              <a:t>.</a:t>
            </a:r>
          </a:p>
        </p:txBody>
      </p:sp>
      <p:sp>
        <p:nvSpPr>
          <p:cNvPr id="14" name="Shape"/>
          <p:cNvSpPr/>
          <p:nvPr/>
        </p:nvSpPr>
        <p:spPr>
          <a:xfrm>
            <a:off x="5486400" y="3493008"/>
            <a:ext cx="365760" cy="365760"/>
          </a:xfrm>
          <a:prstGeom prst="ellipse">
            <a:avLst/>
          </a:prstGeom>
          <a:solidFill>
            <a:srgbClr val="A855F7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5" name="Num"/>
          <p:cNvSpPr txBox="1"/>
          <p:nvPr/>
        </p:nvSpPr>
        <p:spPr>
          <a:xfrm>
            <a:off x="548640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EEFF"/>
                </a:solidFill>
              </a:rPr>
              <a:t>3</a:t>
            </a:r>
          </a:p>
        </p:txBody>
      </p:sp>
      <p:sp>
        <p:nvSpPr>
          <p:cNvPr id="16" name="Step"/>
          <p:cNvSpPr txBox="1"/>
          <p:nvPr/>
        </p:nvSpPr>
        <p:spPr>
          <a:xfrm>
            <a:off x="5989320" y="34747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</a:rPr>
              <a:t>Lines 78-80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F0EEFF"/>
                </a:solidFill>
              </a:rPr>
              <a:t>Otherwise it returns </a:t>
            </a:r>
            <a:r>
              <a:rPr lang="en-US" sz="13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"false"</a:t>
            </a:r>
            <a:r>
              <a:rPr lang="en-US" sz="1300" dirty="0">
                <a:solidFill>
                  <a:srgbClr val="F0EEFF"/>
                </a:solidFill>
              </a:rPr>
              <a:t> and the user stays logged in.</a:t>
            </a:r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A59BD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_the_end_music">
            <a:hlinkClick r:id="" action="ppaction://media"/>
            <a:extLst>
              <a:ext uri="{FF2B5EF4-FFF2-40B4-BE49-F238E27FC236}">
                <a16:creationId xmlns:a16="http://schemas.microsoft.com/office/drawing/2014/main" id="{3227ED37-E905-3309-C30D-A702DBDFE0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1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0EE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59BD6"/>
                </a:solidFill>
              </a:rPr>
              <a:t>TEAM</a:t>
            </a:r>
            <a:endParaRPr lang="en-US" sz="1800" dirty="0"/>
          </a:p>
        </p:txBody>
      </p:sp>
      <p:sp>
        <p:nvSpPr>
          <p:cNvPr id="4" name="Team name"/>
          <p:cNvSpPr txBox="1"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A855F7"/>
                </a:solidFill>
              </a:rPr>
              <a:t>RunTime Terror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</a:rPr>
              <a:t>After all this hard work, we deserve </a:t>
            </a:r>
            <a:r>
              <a:rPr lang="en-US" sz="4000" b="1" dirty="0">
                <a:solidFill>
                  <a:srgbClr val="FBBF24"/>
                </a:solidFill>
              </a:rPr>
              <a:t>BONUS</a:t>
            </a:r>
            <a:r>
              <a:rPr lang="en-US" sz="1800" b="1" dirty="0">
                <a:solidFill>
                  <a:srgbClr val="FBBF24"/>
                </a:solidFill>
              </a:rPr>
              <a:t> points... and the </a:t>
            </a:r>
            <a:r>
              <a:rPr lang="en-US" sz="5400" b="1" dirty="0">
                <a:solidFill>
                  <a:srgbClr val="FBBF24"/>
                </a:solidFill>
              </a:rPr>
              <a:t>#1</a:t>
            </a:r>
            <a:r>
              <a:rPr lang="en-US" sz="1800" b="1" dirty="0">
                <a:solidFill>
                  <a:srgbClr val="FBBF24"/>
                </a:solidFill>
              </a:rPr>
              <a:t> spot !!!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nTime Terror">
  <a:themeElements>
    <a:clrScheme name="RunTime Terror">
      <a:dk1>
        <a:srgbClr val="0F0B2E"/>
      </a:dk1>
      <a:lt1>
        <a:srgbClr val="F0EEFF"/>
      </a:lt1>
      <a:dk2>
        <a:srgbClr val="1A1446"/>
      </a:dk2>
      <a:lt2>
        <a:srgbClr val="A59BD6"/>
      </a:lt2>
      <a:accent1>
        <a:srgbClr val="A855F7"/>
      </a:accent1>
      <a:accent2>
        <a:srgbClr val="FF6B9D"/>
      </a:accent2>
      <a:accent3>
        <a:srgbClr val="22D3EE"/>
      </a:accent3>
      <a:accent4>
        <a:srgbClr val="60A5FA"/>
      </a:accent4>
      <a:accent5>
        <a:srgbClr val="FBBF24"/>
      </a:accent5>
      <a:accent6>
        <a:srgbClr val="818CF8"/>
      </a:accent6>
      <a:hlink>
        <a:srgbClr val="60A5FA"/>
      </a:hlink>
      <a:folHlink>
        <a:srgbClr val="A855F7"/>
      </a:folHlink>
    </a:clrScheme>
    <a:fontScheme name="RunTime Terro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46E8383B5EDD4C914DC36D7DB3F3A2" ma:contentTypeVersion="4" ma:contentTypeDescription="Create a new document." ma:contentTypeScope="" ma:versionID="b91c756e12c7549798e35cc7499c6089">
  <xsd:schema xmlns:xsd="http://www.w3.org/2001/XMLSchema" xmlns:xs="http://www.w3.org/2001/XMLSchema" xmlns:p="http://schemas.microsoft.com/office/2006/metadata/properties" xmlns:ns3="109a30cd-b7cf-4de8-a017-4f0f2ff1e9d5" targetNamespace="http://schemas.microsoft.com/office/2006/metadata/properties" ma:root="true" ma:fieldsID="2f8a99e8ea8abef6e085ead0ccedf754" ns3:_="">
    <xsd:import namespace="109a30cd-b7cf-4de8-a017-4f0f2ff1e9d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9a30cd-b7cf-4de8-a017-4f0f2ff1e9d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D395C2-EF1C-45C7-937C-F9EFAA3999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603241-5ABA-4778-A162-B6D4B145DC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9a30cd-b7cf-4de8-a017-4f0f2ff1e9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3E16B2-428F-418E-B469-8DED18B7477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4360</Words>
  <Application>Microsoft Office PowerPoint</Application>
  <PresentationFormat>On-screen Show (16:9)</PresentationFormat>
  <Paragraphs>697</Paragraphs>
  <Slides>52</Slides>
  <Notes>18</Notes>
  <HiddenSlides>0</HiddenSlides>
  <MMClips>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Courier New</vt:lpstr>
      <vt:lpstr>RunTime Terror</vt:lpstr>
      <vt:lpstr>PowerPoint Presentation</vt:lpstr>
      <vt:lpstr>PowerPoint Presentation</vt:lpstr>
      <vt:lpstr>PowerPoint Presentation</vt:lpstr>
      <vt:lpstr>What is Quick Pay?</vt:lpstr>
      <vt:lpstr>What does Quick Pay do?</vt:lpstr>
      <vt:lpstr>What can the admin do?</vt:lpstr>
      <vt:lpstr>How do we store the data?</vt:lpstr>
      <vt:lpstr>The arrays in the code</vt:lpstr>
      <vt:lpstr>main(): the main menu</vt:lpstr>
      <vt:lpstr>Admin login()</vt:lpstr>
      <vt:lpstr>Admin Panel menu</vt:lpstr>
      <vt:lpstr>showStatistics(): count users</vt:lpstr>
      <vt:lpstr>showStatistics(): transfers and report</vt:lpstr>
      <vt:lpstr>Example: the admin searches for amr_78</vt:lpstr>
      <vt:lpstr>How the search works</vt:lpstr>
      <vt:lpstr>SearchUser(): the start</vt:lpstr>
      <vt:lpstr>Search by ID</vt:lpstr>
      <vt:lpstr>Search by email or phone</vt:lpstr>
      <vt:lpstr>Find_User_From_Prompt()</vt:lpstr>
      <vt:lpstr>One method, many uses</vt:lpstr>
      <vt:lpstr>Java ideas in this code</vt:lpstr>
      <vt:lpstr>printUser(): show one user</vt:lpstr>
      <vt:lpstr>viewAllUsers()</vt:lpstr>
      <vt:lpstr>updateUser(): email and phone</vt:lpstr>
      <vt:lpstr>Demo: the email is already used</vt:lpstr>
      <vt:lpstr>Admin: transaction history</vt:lpstr>
      <vt:lpstr>BlockAccount()</vt:lpstr>
      <vt:lpstr>Unblock and view details</vt:lpstr>
      <vt:lpstr>User login()</vt:lpstr>
      <vt:lpstr>SignUp(): place and email</vt:lpstr>
      <vt:lpstr>SignUp(): save the user</vt:lpstr>
      <vt:lpstr>User Panel menu</vt:lpstr>
      <vt:lpstr>showBalance()</vt:lpstr>
      <vt:lpstr>transferMoney(): how it works</vt:lpstr>
      <vt:lpstr>transferMoney(): find the receiver</vt:lpstr>
      <vt:lpstr>transferMoney(): checks</vt:lpstr>
      <vt:lpstr>transferMoney(): approved</vt:lpstr>
      <vt:lpstr>Money transfer rules</vt:lpstr>
      <vt:lpstr>Transaction history: how it works</vt:lpstr>
      <vt:lpstr>User: transaction history</vt:lpstr>
      <vt:lpstr>addFavorite(): checks</vt:lpstr>
      <vt:lpstr>addFavorite(): add the name</vt:lpstr>
      <vt:lpstr>removeFavorite(): checks</vt:lpstr>
      <vt:lpstr>removeFavorite(): delete and shift</vt:lpstr>
      <vt:lpstr>showFavorites()</vt:lpstr>
      <vt:lpstr>searchRecipient(): how it works</vt:lpstr>
      <vt:lpstr>searchRecipient()</vt:lpstr>
      <vt:lpstr>viewProfile()</vt:lpstr>
      <vt:lpstr>updateProfile(): the email</vt:lpstr>
      <vt:lpstr>logout()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Pay - RunTime Terror</dc:title>
  <dc:subject>PptxGenJS Presentation</dc:subject>
  <dc:creator>RunTime Terror</dc:creator>
  <cp:lastModifiedBy>ملك أحمد السيد أحمد</cp:lastModifiedBy>
  <cp:revision>3</cp:revision>
  <dcterms:created xsi:type="dcterms:W3CDTF">2026-10-15T20:55:34Z</dcterms:created>
  <dcterms:modified xsi:type="dcterms:W3CDTF">2026-10-16T09:20:29Z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0x0101001546E8383B5EDD4C914DC36D7DB3F3A2</vt:lpwstr>
  </property>
</Properties>
</file>